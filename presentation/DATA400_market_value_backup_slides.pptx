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ackup" id="{e5152b83-7806-1e9b-235a-f98a2eee4973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value (€M)</c:v>
                </c:pt>
              </c:strCache>
            </c:strRef>
          </c:tx>
          <c:spPr>
            <a:solidFill>
              <a:srgbClr val="7A8CA5"/>
            </a:solidFill>
            <a:effectLst/>
          </c:spPr>
          <c:invertIfNegative val="0"/>
          <c:dLbls>
            <c:numFmt formatCode="€0.0#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Premier League</c:v>
                  </c:pt>
                  <c:pt idx="1">
                    <c:v>Bundesliga</c:v>
                  </c:pt>
                  <c:pt idx="2">
                    <c:v>Serie A</c:v>
                  </c:pt>
                  <c:pt idx="3">
                    <c:v>Ligue 1</c:v>
                  </c:pt>
                  <c:pt idx="4">
                    <c:v>LaLiga</c:v>
                  </c:pt>
                  <c:pt idx="5">
                    <c:v>Belgian Pro League</c:v>
                  </c:pt>
                  <c:pt idx="6">
                    <c:v>Russian Premier League</c:v>
                  </c:pt>
                  <c:pt idx="7">
                    <c:v>Süper Lig</c:v>
                  </c:pt>
                  <c:pt idx="8">
                    <c:v>Eredivisie</c:v>
                  </c:pt>
                  <c:pt idx="9">
                    <c:v>Liga Portugal</c:v>
                  </c:pt>
                  <c:pt idx="10">
                    <c:v>Danish Superliga</c:v>
                  </c:pt>
                  <c:pt idx="11">
                    <c:v>Greek Super League</c:v>
                  </c:pt>
                  <c:pt idx="12">
                    <c:v>Scottish Premiership</c:v>
                  </c:pt>
                  <c:pt idx="13">
                    <c:v>Ukrainian Premier League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13</c:v>
                </c:pt>
                <c:pt idx="1">
                  <c:v>4</c:v>
                </c:pt>
                <c:pt idx="2">
                  <c:v>4</c:v>
                </c:pt>
                <c:pt idx="3">
                  <c:v>3.5</c:v>
                </c:pt>
                <c:pt idx="4">
                  <c:v>3</c:v>
                </c:pt>
                <c:pt idx="5">
                  <c:v>1</c:v>
                </c:pt>
                <c:pt idx="6">
                  <c:v>0.9</c:v>
                </c:pt>
                <c:pt idx="7">
                  <c:v>0.85</c:v>
                </c:pt>
                <c:pt idx="8">
                  <c:v>0.75</c:v>
                </c:pt>
                <c:pt idx="9">
                  <c:v>0.75</c:v>
                </c:pt>
                <c:pt idx="10">
                  <c:v>0.5</c:v>
                </c:pt>
                <c:pt idx="11">
                  <c:v>0.45</c:v>
                </c:pt>
                <c:pt idx="12">
                  <c:v>0.4</c:v>
                </c:pt>
                <c:pt idx="13">
                  <c:v>0.35000000000000003</c:v>
                </c:pt>
              </c:numCache>
            </c:numRef>
          </c:val>
        </c:ser>
        <c:dLbls>
          <c:numFmt formatCode="€0.0#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F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C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 file (DATA400_market_value_backup_slides.pptx). Open it only when a question needs one of these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Exact exclusion counts in the order the rules were applied: 9 missing position, 5 missing birth date, 490 no valuation by July 31, 416 with a valuation more than 365 days old (stale, not missing). 23,328 rows (72.8%) have at least 450 minutes.
Remember: 920 excluded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Silhouette and inertia for k = 2-6, cluster sizes and medians, stability. Stability means repeated runs give nearly the same groups (adjusted Rand index minimum 0.92, median 0.97); that is not the same as the groups being well separated.
Remember: Silhouette 0.207 at k = 4
Caution: Stable is not the same as well separated.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Rule-based segments: high scorers (goals/90 at least 0.40), creative (assists/90 at least 0.23), then age bands. I define these, so call them segments, not clusters.
Remember: High scorers €6M, creative €4M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14 league medians, highest to lowest.
Remember: Lowest top-five (€3M) is 3x the highest other league (€1M)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Spearman 0.51 between minutes and value. The causal direction is unclear: clubs may play players they already value, playing may raise visibility, and ability or club level may affect both. None of this was tested.
Remember: 0.51
Caution: Do not say more minutes cause higher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78638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01752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ADCFC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CA5"/>
                </a:solidFill>
              </a:rPr>
              <a:t>DATA 400 · Football player market value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CA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CA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slides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01752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What Factors Are Most Associated with Football Player Market Value?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Niloy Saha · DATA 400 Individual Mini-Project · for questions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A: how the dataset was cleaned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6692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09728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dropped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remaining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Player-seasons in scope (14 leagues, 2020–2024)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position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date of birth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valuation by July 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32,462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Valuation older than 365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32,046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minutes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32,046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32,046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elig-card"/>
          <p:cNvSpPr/>
          <p:nvPr/>
        </p:nvSpPr>
        <p:spPr>
          <a:xfrm>
            <a:off x="6400800" y="1051560"/>
            <a:ext cx="22860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583680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23,328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6583680" y="17190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rows with ≥450 minutes (72.8%) used for per-90 rates; others kept for everything else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CA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B: K-means details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31089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28016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Inertia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19,125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16,201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13,850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051560"/>
          <a:ext cx="48463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48640"/>
                <a:gridCol w="457200"/>
                <a:gridCol w="548640"/>
                <a:gridCol w="502920"/>
                <a:gridCol w="502920"/>
                <a:gridCol w="548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(k = 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G/90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A/90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 high-minute starters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Creative attackers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Younger, lower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€1.5M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Older, fewer minutes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457200" y="30175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scikit-learn KMeans, n_init = 20, random_state = 0; StandardScaler; per-90 rates capped at the 99th percentile.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Stability (adjusted Rand index vs the seed-0 fit): minimum 0.92, median 0.97 across 10 seeds; minimum 0.89, median 0.92 on 80% subsamples.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Clusters account for ~23% of log-value variance among these attackers.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CA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C: rule-based segments (not clusters)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731520"/>
                <a:gridCol w="731520"/>
                <a:gridCol w="73152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(applied in order)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G/90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A/90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scorers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Goals/90 ≥ 0.40 (top quarter)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€6M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Creative attackers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Assists/90 ≥ 0.23, not a high scorer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 (under 24)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 else, under 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 age (24-28)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 else, 24 to 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€1.8M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Experienced (29+)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 else, 29 or older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€900K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2971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Defined by me with explicit cut-offs from the data; easier to explain than K-means, but capture less value variation (~14% vs ~23%).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CA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D: median market value by league</a:t>
            </a:r>
            <a:endParaRPr lang="en-US" sz="2400" dirty="0"/>
          </a:p>
        </p:txBody>
      </p:sp>
      <p:graphicFrame>
        <p:nvGraphicFramePr>
          <p:cNvPr id="4" name="league-chart" descr=""/>
          <p:cNvGraphicFramePr/>
          <p:nvPr/>
        </p:nvGraphicFramePr>
        <p:xfrm>
          <a:off x="457200" y="960120"/>
          <a:ext cx="58521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583680" y="1188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€4.5M</a:t>
            </a:r>
            <a:endParaRPr lang="en-US" sz="3000" dirty="0"/>
          </a:p>
        </p:txBody>
      </p:sp>
      <p:sp>
        <p:nvSpPr>
          <p:cNvPr id="6" name="Text 2"/>
          <p:cNvSpPr txBox="1"/>
          <p:nvPr/>
        </p:nvSpPr>
        <p:spPr>
          <a:xfrm>
            <a:off x="6583680" y="17190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pooled median, top-five leagues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6583680" y="2194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€600K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6583680" y="27249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pooled median, other nine leagues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583680" y="32004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Every top-five median is €3M or more; every other league is €1M or less.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CA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E: playing time and value</a:t>
            </a:r>
            <a:endParaRPr lang="en-US" sz="2400" dirty="0"/>
          </a:p>
        </p:txBody>
      </p:sp>
      <p:pic>
        <p:nvPicPr>
          <p:cNvPr id="4" name="minutes.png" descr="/Users/niloysaha/IdeaProjects/DATA400-football-player-market-value-analysis/presentation/figures/minu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6035040" cy="3017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766560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0.51</a:t>
            </a:r>
            <a:endParaRPr lang="en-US" sz="3000" dirty="0"/>
          </a:p>
        </p:txBody>
      </p:sp>
      <p:sp>
        <p:nvSpPr>
          <p:cNvPr id="6" name="Text 2"/>
          <p:cNvSpPr txBox="1"/>
          <p:nvPr/>
        </p:nvSpPr>
        <p:spPr>
          <a:xfrm>
            <a:off x="6766560" y="16276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Spearman, total minutes vs value (all players)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6766560" y="2194560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Causal direction is unclear: clubs may play players they already value, playing may raise visibility, and ability or club level may affect both. None of this was tested.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CA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ket Value Study">
  <a:themeElements>
    <a:clrScheme name="Market Value Study">
      <a:dk1>
        <a:srgbClr val="1A1F2B"/>
      </a:dk1>
      <a:lt1>
        <a:srgbClr val="FFFFFF"/>
      </a:lt1>
      <a:dk2>
        <a:srgbClr val="14213D"/>
      </a:dk2>
      <a:lt2>
        <a:srgbClr val="F2F4F7"/>
      </a:lt2>
      <a:accent1>
        <a:srgbClr val="D55E00"/>
      </a:accent1>
      <a:accent2>
        <a:srgbClr val="7A8CA5"/>
      </a:accent2>
      <a:accent3>
        <a:srgbClr val="0072B2"/>
      </a:accent3>
      <a:accent4>
        <a:srgbClr val="009E73"/>
      </a:accent4>
      <a:accent5>
        <a:srgbClr val="E69F00"/>
      </a:accent5>
      <a:accent6>
        <a:srgbClr val="A23B2A"/>
      </a:accent6>
      <a:hlink>
        <a:srgbClr val="0072B2"/>
      </a:hlink>
      <a:folHlink>
        <a:srgbClr val="6B4C9A"/>
      </a:folHlink>
    </a:clrScheme>
    <a:fontScheme name="Market Value Stud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Factors Are Most Associated with Football Player Market Value?</dc:title>
  <dc:subject>PptxGenJS Presentation</dc:subject>
  <dc:creator>Niloy Saha</dc:creator>
  <cp:lastModifiedBy>Niloy Saha</cp:lastModifiedBy>
  <cp:revision>1</cp:revision>
  <dcterms:created xsi:type="dcterms:W3CDTF">2026-10-04T22:56:42Z</dcterms:created>
  <dcterms:modified xsi:type="dcterms:W3CDTF">2026-10-04T22:56:42Z</dcterms:modified>
</cp:coreProperties>
</file>