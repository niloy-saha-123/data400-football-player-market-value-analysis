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tion" id="{99dfdaa1-6351-c5e8-d7f3-50ad2a702cbe}">
          <p14:sldIdLst>
            <p14:sldId id="256"/>
            <p14:sldId id="257"/>
            <p14:sldId id="258"/>
            <p14:sldId id="259"/>
            <p14:sldId id="260"/>
            <p14:sldId id="261"/>
            <p14:sldId id="262"/>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4213D"/>
                </a:solidFill>
                <a:latin typeface="+mn-lt"/>
              </a:defRPr>
            </a:pPr>
            <a:r>
              <a:rPr sz="1100" b="0" i="0" u="none" strike="noStrike">
                <a:solidFill>
                  <a:srgbClr val="14213D"/>
                </a:solidFill>
                <a:latin typeface="+mn-lt"/>
              </a:rPr>
              <a:t>Median value by age group (all players)</a:t>
            </a:r>
          </a:p>
        </c:rich>
      </c:tx>
      <c:layout/>
      <c:overlay val="0"/>
    </c:title>
    <c:autoTitleDeleted val="0"/>
    <c:plotArea>
      <c:layout/>
      <c:barChart>
        <c:barDir val="col"/>
        <c:grouping val="clustered"/>
        <c:varyColors val="0"/>
        <c:ser>
          <c:idx val="0"/>
          <c:order val="0"/>
          <c:tx>
            <c:strRef>
              <c:f>Sheet1!$B$1</c:f>
              <c:strCache>
                <c:ptCount val="1"/>
                <c:pt idx="0">
                  <c:v>Median value (€M)</c:v>
                </c:pt>
              </c:strCache>
            </c:strRef>
          </c:tx>
          <c:spPr>
            <a:solidFill>
              <a:srgbClr val="7A8CA5"/>
            </a:solidFill>
            <a:effectLst/>
          </c:spPr>
          <c:invertIfNegative val="0"/>
          <c:dLbls>
            <c:numFmt formatCode="€0.0#&quot;M&quot;"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Sheet1!$A$2:$A$6</c:f>
              <c:multiLvlStrCache>
                <c:ptCount val="5"/>
                <c:lvl>
                  <c:pt idx="0">
                    <c:v>Under 21</c:v>
                  </c:pt>
                  <c:pt idx="1">
                    <c:v>21-23</c:v>
                  </c:pt>
                  <c:pt idx="2">
                    <c:v>24-26</c:v>
                  </c:pt>
                  <c:pt idx="3">
                    <c:v>27-29</c:v>
                  </c:pt>
                  <c:pt idx="4">
                    <c:v>30+</c:v>
                  </c:pt>
                </c:lvl>
              </c:multiLvlStrCache>
            </c:multiLvlStrRef>
          </c:cat>
          <c:val>
            <c:numRef>
              <c:f>Sheet1!$B$2:$B$6</c:f>
              <c:numCache>
                <c:formatCode>General</c:formatCode>
                <c:ptCount val="5"/>
                <c:pt idx="0">
                  <c:v>0.8</c:v>
                </c:pt>
                <c:pt idx="1">
                  <c:v>1.8</c:v>
                </c:pt>
                <c:pt idx="2">
                  <c:v>2</c:v>
                </c:pt>
                <c:pt idx="3">
                  <c:v>1.8</c:v>
                </c:pt>
                <c:pt idx="4">
                  <c:v>0.75</c:v>
                </c:pt>
              </c:numCache>
            </c:numRef>
          </c:val>
        </c:ser>
        <c:dLbls>
          <c:numFmt formatCode="€0.0#&quot;M&quot;"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1F2B"/>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3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A8CA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4213D"/>
                </a:solidFill>
                <a:latin typeface="+mn-lt"/>
              </a:defRPr>
            </a:pPr>
            <a:r>
              <a:rPr sz="1100" b="0" i="0" u="none" strike="noStrike">
                <a:solidFill>
                  <a:srgbClr val="14213D"/>
                </a:solidFill>
                <a:latin typeface="+mn-lt"/>
              </a:rPr>
              <a:t>Goals per 90 vs value (Spearman, ≥450 min)</a:t>
            </a:r>
          </a:p>
        </c:rich>
      </c:tx>
      <c:layout/>
      <c:overlay val="0"/>
    </c:title>
    <c:autoTitleDeleted val="0"/>
    <c:plotArea>
      <c:layout/>
      <c:barChart>
        <c:barDir val="bar"/>
        <c:grouping val="clustered"/>
        <c:varyColors val="0"/>
        <c:ser>
          <c:idx val="0"/>
          <c:order val="0"/>
          <c:tx>
            <c:strRef>
              <c:f>Sheet1!$B$1</c:f>
              <c:strCache>
                <c:ptCount val="1"/>
                <c:pt idx="0">
                  <c:v>Spearman</c:v>
                </c:pt>
              </c:strCache>
            </c:strRef>
          </c:tx>
          <c:spPr>
            <a:solidFill>
              <a:srgbClr val="D55E00"/>
            </a:solidFill>
            <a:effectLst/>
          </c:spPr>
          <c:invertIfNegative val="0"/>
          <c:dLbls>
            <c:numFmt formatCode="0.0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dPt>
            <c:idx val="0"/>
            <c:invertIfNegative val="0"/>
            <c:bubble3D val="0"/>
            <c:spPr>
              <a:solidFill>
                <a:srgbClr val="D55E00"/>
              </a:solidFill>
              <a:effectLst/>
            </c:spPr>
          </c:dPt>
          <c:dPt>
            <c:idx val="1"/>
            <c:invertIfNegative val="0"/>
            <c:bubble3D val="0"/>
            <c:spPr>
              <a:solidFill>
                <a:srgbClr val="009E73"/>
              </a:solidFill>
              <a:effectLst/>
            </c:spPr>
          </c:dPt>
          <c:dPt>
            <c:idx val="2"/>
            <c:invertIfNegative val="0"/>
            <c:bubble3D val="0"/>
            <c:spPr>
              <a:solidFill>
                <a:srgbClr val="0072B2"/>
              </a:solidFill>
              <a:effectLst/>
            </c:spPr>
          </c:dPt>
          <c:cat>
            <c:multiLvlStrRef>
              <c:f>Sheet1!$A$2:$A$4</c:f>
              <c:multiLvlStrCache>
                <c:ptCount val="3"/>
                <c:lvl>
                  <c:pt idx="0">
                    <c:v>Attackers</c:v>
                  </c:pt>
                  <c:pt idx="1">
                    <c:v>Midfielders</c:v>
                  </c:pt>
                  <c:pt idx="2">
                    <c:v>Defenders</c:v>
                  </c:pt>
                </c:lvl>
              </c:multiLvlStrCache>
            </c:multiLvlStrRef>
          </c:cat>
          <c:val>
            <c:numRef>
              <c:f>Sheet1!$B$2:$B$4</c:f>
              <c:numCache>
                <c:formatCode>General</c:formatCode>
                <c:ptCount val="3"/>
                <c:pt idx="0">
                  <c:v>0.37</c:v>
                </c:pt>
                <c:pt idx="1">
                  <c:v>0.23</c:v>
                </c:pt>
                <c:pt idx="2">
                  <c:v>0.18</c:v>
                </c:pt>
              </c:numCache>
            </c:numRef>
          </c:val>
        </c:ser>
        <c:dLbls>
          <c:numFmt formatCode="0.0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1F2B"/>
                </a:solidFill>
                <a:latin typeface="+mn-lt"/>
              </a:defRPr>
            </a:pPr>
            <a:endParaRPr lang="en-US"/>
          </a:p>
        </c:txPr>
        <c:crossAx val="2094734552"/>
        <c:crosses val="autoZero"/>
        <c:auto val="1"/>
        <c:lblAlgn val="ctr"/>
        <c:noMultiLvlLbl val="1"/>
      </c:catAx>
      <c:valAx>
        <c:axId val="2094734552"/>
        <c:scaling>
          <c:orientation val="minMax"/>
          <c:max val="0.5"/>
          <c:min val="0"/>
        </c:scaling>
        <c:delete val="1"/>
        <c:axPos val="b"/>
        <c:majorGridlines>
          <c:spPr>
            <a:ln w="6350" cap="flat">
              <a:solidFill>
                <a:srgbClr val="E3E7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7A8CA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in one sentence: I looked at five seasons of Transfermarkt data to see which player characteristics move together with a player's market value.
Next: "Let me start with the question and why it is worth asking."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research question. Then explain why it matters: values range from tens of thousands to hundreds of millions of euros, and players who produce similar numbers can be valued very differently. My goal is descriptive: which characteristics move with value, not predicting a 'true price'. Point at the dark box: market value is Transfermarkt's estimate, not a transfer fee. Mention who cares: fans and journalists quote these values, analysts and recruiters use them as a reference, players and agents are affected by them.
Remember: Market value is an estimate, not a fee.
Caution: Do not call it the player's 'price' or 'worth' as a fact.
Next: "To answer this I needed player-level data across several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is David Caribou's public transfermarkt-datasets, which is scraped from Transfermarkt and released under CC0. Walk through the four numbers: 32,046 player-seasons, 13,511 different players, 14 domestic European leagues, five seasons from 2020/21 to 2024/25. I used a fixed five-season window to keep the scope manageable and consistent. Explain the unit: one row is one player in one season, so a player who played all five seasons appears five times. List the main variables quickly; do not read every one.
Remember: 32,046 player-seasons
Caution: Rows are not independent people: the same player can appear up to five times.
Next: "The raw data did not come in this shape, so here is how I built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raw data is match-level: about 1.9 million appearance rows. Follow the arrows: join each appearance to its game to get season and league, add up minutes, goals and assists per player per season, attach age and position, then attach the valuation at the end of that season. Then the three rules. 450 minutes: per-90 rates explode for players who barely played, one goal in one minute is 90 goals per 90, so rates are only used above five full matches; low-minute players stay in the data for everything else. July 31: Transfermarkt updates values a few times a year, with a big round in June, so I take the latest value on or before July 31 after the season. It is a consistent post-season cutoff that captures that June update while avoiding values from the following season; a practical choice, not the one correct date. 365 days: if that value is more than a year old, the row is excluded. In total 920 rows (2.8%) were excluded: 14 had no position or birth date, 490 had no valuation by the cutoff, and 416 had a valuation, but one more than a year old. The exact counts are on backup slide A.
Remember: 920 excluded of 32,966 (2.8%)
Caution: These thresholds are practical choices, not the only correct ones.
Next: "With the dataset built, the first question everyone asks is about 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lines: value rises through the early twenties, stays high from about 22 to 28, then falls after 30. The bar chart shows the age groups: under 21 is €0.8M, 21-23 €1.8M, 24-26 is the highest at €2.0M, 27-29 €1.8M, 30 and over €0.75M. Then the key point: the Spearman correlation between age and value is -0.03, basically zero, but age obviously matters. A correlation measures a steady up or down trend; here value goes up and then down, so it cancels out. This is why plotting the data matters. Mention the y-axis is log-scaled because values are so skewed.
Remember: 24-26 has the highest median (€2.0M); Spearman -0.03
Caution: Do not say 'younger players are worth more'. Under 21 is low. Also these are different players at different ages, not one player ageing.
Next: "Age applies to everyone. Performance is where position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Goals and assists mean different things for different jobs. For attackers with at least 450 minutes, goals per 90 has a Spearman correlation of 0.37 with value; for midfielders 0.23; for defenders 0.18. The scatter shows attackers: the dots are a random sample of 2,500 attacker-seasons so the chart stays readable, but the black median line and the correlation use all 6,095 eligible attackers. Lots of spread, but the median line rises steadily. The caution: this does not say goals are how you judge a defender. The dataset has no tackles, interceptions or saves, so defenders and goalkeepers are under-described.
Remember: Goals/90 vs value: 0.37 attackers, 0.23 midfielders, 0.18 defenders
Caution: Moderate correlation: plenty of high scorers with modest values and the reverse.
Next: "Position and performance differ within leagues, but the biggest gaps are between leagues."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striking chart. The Premier League median is €13M. The other big leagues: Bundesliga and Serie A €4M, Ligue 1 €3.5M, LaLiga €3M. Every other league is €1M or less, down to €350K in Ukraine. Pooled, the top-five median is €4.5M against €600K for the other nine. About 35% of the variation in log value lies between leagues, compared with about 1% between positions. But this is context, not cause: leagues differ in money, clubs, player quality and media exposure. I cannot say playing in England makes a player worth more.
Remember: Premier League €13M; top-five €4.5M vs others €600K; ~35% between leagues
Caution: Never say 'the league causes higher value'. 35% is a share of variation between groups, not a percentage influence.
Next: "Coming back to attackers: what happens if we look at age and output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split attackers with at least 450 minutes into three age bands and into high or lower output, where high output means the top quarter of goals plus assists per 90. Young high-output attackers have the highest median, €10M, then prime-age high-output €8M, then experienced high-output €3.5M. Lower-output groups sit around €1-2.3M. At the same output, younger is valued higher. I checked it is not just a league effect: the same ordering holds inside the top-five leagues (€31M vs €25M) and outside them (€5M vs €4.5M). Why younger players are valued higher (future potential, resale value) is a possible explanation only; the data does not measure it.
Remember: Young high output €10M vs prime €8M vs experienced €3.5M
Caution: Descriptive only. A plausible explanation is resale value and future potential, but the data cannot test that.
Next: "My professor suggested checking whether players fall into natural groups, so I tried clustering."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professor suggested checking whether players form natural groups, so I tried K-means, which puts players with similar numbers into the same group. I used 6,095 attacker-seasons with at least 450 minutes and four inputs: age, total minutes, goals per 90 and assists per 90. The per-90 rates were capped at the 99th percentile and everything was standardised (StandardScaler) so each input counts equally. Market value and league were not inputs, so value can be compared afterwards and the method cannot produce 'league clusters'. I tried k from 2 to 6. The silhouette score, which measures how well separated the groups are, was only about 0.21 to 0.22 at every k, and there was no sharp elbow. I kept k = 4 because the groups are interpretable, not because a metric selected it: regular high-minute starters (€8M), creative attackers (€5M), younger lower-output (€1.5M), older with fewer minutes (€1M). So K-means produced four interpretable but overlapping profiles; attacker profiles look more like a continuum. Because natural separation was weak, I also compared transparent rule-based segments, defined by me, not machine learning. The age x output grouping on the previous slide is one example of that kind of transparent comparison.
Remember: Silhouette ~0.21 at every k
Caution: Do not say K-means found the true types of attacker, or league groups.
Next: "Putting it together, here is what I can and cannot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across the six cards in order and keep each to one sentence. On playing time, say the causal direction is unclear: clubs may give more minutes to players they already value, playing regularly may raise visibility, and ability or club level may affect both; none of these was tested. End by repeating that all of these are associations.
Remember: Use one number per card: €2.0M peak at 24-26, 0.51, 0.37, €13M, €10M, 0.21.
Caution: None of these is causal.
Next: "And here is what the project cannot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three or four limitations rather than reading all eight: values are estimates; no causal claims because age, minutes, league and club overlap; no defensive or goalkeeper statistics and no injury data; the thresholds are my choices. Then thank the audience and invite questions.
Next: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188720"/>
            <a:ext cx="7863840" cy="1645920"/>
          </a:xfrm>
          <a:prstGeom prst="rect">
            <a:avLst/>
          </a:prstGeom>
          <a:noFill/>
          <a:ln/>
        </p:spPr>
        <p:txBody>
          <a:bodyPr wrap="square" rtlCol="0"/>
          <a:lstStyle>
            <a:lvl1pPr indent="0" marL="0">
              <a:buNone/>
              <a:defRPr lang="en-US" sz="3400" b="1" dirty="0">
                <a:solidFill>
                  <a:schemeClr val="bg1"/>
                </a:solidFill>
                <a:latin typeface="Cambria" pitchFamily="34" charset="0"/>
                <a:ea typeface="Cambria" pitchFamily="34" charset="-122"/>
                <a:cs typeface="Cambria" pitchFamily="34" charset="-120"/>
              </a:defRPr>
            </a:lvl1pPr>
          </a:lstStyle>
          <a:p>
            <a:pPr indent="0" marL="0">
              <a:buNone/>
            </a:pPr>
            <a:endParaRPr lang="en-US" sz="3400" dirty="0"/>
          </a:p>
        </p:txBody>
      </p:sp>
      <p:sp>
        <p:nvSpPr>
          <p:cNvPr id="3" name="Text 0"/>
          <p:cNvSpPr/>
          <p:nvPr>
            <p:ph idx="101" type="body" hasCustomPrompt="1"/>
          </p:nvPr>
        </p:nvSpPr>
        <p:spPr>
          <a:xfrm>
            <a:off x="640080" y="3017520"/>
            <a:ext cx="7863840" cy="1463040"/>
          </a:xfrm>
          <a:prstGeom prst="rect">
            <a:avLst/>
          </a:prstGeom>
          <a:noFill/>
          <a:ln/>
        </p:spPr>
        <p:txBody>
          <a:bodyPr wrap="square" rtlCol="0"/>
          <a:lstStyle>
            <a:lvl1pPr indent="0" marL="0">
              <a:buNone/>
              <a:defRPr lang="en-US" sz="1600" dirty="0">
                <a:solidFill>
                  <a:srgbClr val="CADCFC"/>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lstStyle>
            <a:lvl1pPr indent="0" marL="0">
              <a:buNone/>
              <a:defRPr lang="en-US" sz="2400" b="1" dirty="0">
                <a:solidFill>
                  <a:schemeClr val="tx2"/>
                </a:solidFill>
                <a:latin typeface="Cambria" pitchFamily="34" charset="0"/>
                <a:ea typeface="Cambria" pitchFamily="34" charset="-122"/>
                <a:cs typeface="Cambria" pitchFamily="34" charset="-120"/>
              </a:defRPr>
            </a:lvl1pPr>
          </a:lstStyle>
          <a:p>
            <a:pPr indent="0" marL="0">
              <a:buNone/>
            </a:pPr>
            <a:endParaRPr lang="en-US" sz="2400" dirty="0"/>
          </a:p>
        </p:txBody>
      </p:sp>
      <p:sp>
        <p:nvSpPr>
          <p:cNvPr id="3" name="Text 0"/>
          <p:cNvSpPr/>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rgbClr val="7A8CA5"/>
                </a:solidFill>
              </a:rPr>
              <a:t>DATA 400 · Football player market value</a:t>
            </a:r>
            <a:endParaRPr lang="en-US" sz="9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CA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lstStyle>
            <a:lvl1pPr indent="0" marL="0">
              <a:buNone/>
              <a:defRPr lang="en-US" sz="2400" b="1" dirty="0">
                <a:solidFill>
                  <a:schemeClr val="bg1"/>
                </a:solidFill>
                <a:latin typeface="Cambria" pitchFamily="34" charset="0"/>
                <a:ea typeface="Cambria" pitchFamily="34" charset="-122"/>
                <a:cs typeface="Cambria" pitchFamily="34" charset="-120"/>
              </a:defRPr>
            </a:lvl1pPr>
          </a:lstStyle>
          <a:p>
            <a:pPr indent="0" marL="0">
              <a:buNone/>
            </a:pPr>
            <a:endParaRPr lang="en-US" sz="2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CADCF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CA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5-1.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6-1.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188720"/>
            <a:ext cx="7863840" cy="1645920"/>
          </a:xfrm>
          <a:prstGeom prst="rect">
            <a:avLst/>
          </a:prstGeom>
          <a:noFill/>
          <a:ln/>
        </p:spPr>
        <p:txBody>
          <a:bodyPr wrap="square" rtlCol="0" anchor="b"/>
          <a:lstStyle/>
          <a:p>
            <a:pPr indent="0" marL="0">
              <a:buNone/>
            </a:pPr>
            <a:r>
              <a:rPr lang="en-US" sz="3400" b="1" dirty="0">
                <a:solidFill>
                  <a:schemeClr val="bg1"/>
                </a:solidFill>
                <a:latin typeface="Cambria" pitchFamily="34" charset="0"/>
                <a:ea typeface="Cambria" pitchFamily="34" charset="-122"/>
                <a:cs typeface="Cambria" pitchFamily="34" charset="-120"/>
              </a:rPr>
              <a:t>What Factors Are Most Associated with Football Player Market Value?</a:t>
            </a:r>
            <a:endParaRPr lang="en-US" sz="3400" dirty="0"/>
          </a:p>
        </p:txBody>
      </p:sp>
      <p:sp>
        <p:nvSpPr>
          <p:cNvPr id="3" name="Text 0"/>
          <p:cNvSpPr/>
          <p:nvPr>
            <p:ph idx="101" type="body" hasCustomPrompt="1"/>
          </p:nvPr>
        </p:nvSpPr>
        <p:spPr>
          <a:xfrm>
            <a:off x="640080" y="3017520"/>
            <a:ext cx="7863840" cy="1463040"/>
          </a:xfrm>
          <a:prstGeom prst="rect">
            <a:avLst/>
          </a:prstGeom>
          <a:noFill/>
          <a:ln/>
        </p:spPr>
        <p:txBody>
          <a:bodyPr wrap="square" rtlCol="0" anchor="t"/>
          <a:lstStyle/>
          <a:p>
            <a:pPr indent="0" marL="0">
              <a:buNone/>
            </a:pPr>
            <a:r>
              <a:rPr lang="en-US" sz="1600" b="1" dirty="0">
                <a:solidFill>
                  <a:srgbClr val="FFFFFF"/>
                </a:solidFill>
              </a:rPr>
              <a:t>DATA 400 Individual Mini-Project</a:t>
            </a:r>
            <a:endParaRPr lang="en-US" sz="1600" dirty="0"/>
          </a:p>
          <a:p>
            <a:pPr indent="0" marL="0">
              <a:buNone/>
            </a:pPr>
            <a:r>
              <a:rPr lang="en-US" sz="1600" dirty="0">
                <a:solidFill>
                  <a:srgbClr val="CADCFC"/>
                </a:solidFill>
              </a:rPr>
              <a:t>Niloy Saha · Dickinson College · Fall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Question and motivation</a:t>
            </a:r>
            <a:endParaRPr lang="en-US" sz="2400" dirty="0"/>
          </a:p>
        </p:txBody>
      </p:sp>
      <p:sp>
        <p:nvSpPr>
          <p:cNvPr id="4" name="rq-card"/>
          <p:cNvSpPr/>
          <p:nvPr/>
        </p:nvSpPr>
        <p:spPr>
          <a:xfrm>
            <a:off x="457200" y="1097280"/>
            <a:ext cx="5120640" cy="1325880"/>
          </a:xfrm>
          <a:prstGeom prst="roundRect">
            <a:avLst>
              <a:gd name="adj" fmla="val 5517"/>
            </a:avLst>
          </a:prstGeom>
          <a:solidFill>
            <a:schemeClr val="bg2"/>
          </a:solidFill>
          <a:ln w="12700">
            <a:solidFill>
              <a:schemeClr val="bg2"/>
            </a:solidFill>
            <a:prstDash val="solid"/>
          </a:ln>
        </p:spPr>
      </p:sp>
      <p:sp>
        <p:nvSpPr>
          <p:cNvPr id="5" name="Text 2"/>
          <p:cNvSpPr txBox="1"/>
          <p:nvPr/>
        </p:nvSpPr>
        <p:spPr>
          <a:xfrm>
            <a:off x="685800" y="1234440"/>
            <a:ext cx="475488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RESEARCH QUESTION</a:t>
            </a:r>
            <a:endParaRPr lang="en-US" sz="1000" dirty="0"/>
          </a:p>
        </p:txBody>
      </p:sp>
      <p:sp>
        <p:nvSpPr>
          <p:cNvPr id="6" name="Text 3"/>
          <p:cNvSpPr txBox="1"/>
          <p:nvPr/>
        </p:nvSpPr>
        <p:spPr>
          <a:xfrm>
            <a:off x="685800" y="1508760"/>
            <a:ext cx="4754880" cy="822960"/>
          </a:xfrm>
          <a:prstGeom prst="rect">
            <a:avLst/>
          </a:prstGeom>
          <a:noFill/>
          <a:ln/>
        </p:spPr>
        <p:txBody>
          <a:bodyPr wrap="square" lIns="0" tIns="0" rIns="0" bIns="0" rtlCol="0" anchor="t"/>
          <a:lstStyle/>
          <a:p>
            <a:pPr indent="0" marL="0">
              <a:buNone/>
            </a:pPr>
            <a:r>
              <a:rPr lang="en-US" sz="1600" i="1" dirty="0">
                <a:solidFill>
                  <a:schemeClr val="tx2"/>
                </a:solidFill>
                <a:latin typeface="Cambria" pitchFamily="34" charset="0"/>
                <a:ea typeface="Cambria" pitchFamily="34" charset="-122"/>
                <a:cs typeface="Cambria" pitchFamily="34" charset="-120"/>
              </a:rPr>
              <a:t>Which player characteristics and performance statistics are most strongly associated with a football player's market value?</a:t>
            </a:r>
            <a:endParaRPr lang="en-US" sz="1600" dirty="0"/>
          </a:p>
        </p:txBody>
      </p:sp>
      <p:sp>
        <p:nvSpPr>
          <p:cNvPr id="7" name="Text 4"/>
          <p:cNvSpPr txBox="1"/>
          <p:nvPr/>
        </p:nvSpPr>
        <p:spPr>
          <a:xfrm>
            <a:off x="457200" y="2651760"/>
            <a:ext cx="5120640" cy="1737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Player valuations vary enormously, from tens of thousands to hundreds of millions of euros.</a:t>
            </a:r>
            <a:endParaRPr lang="en-US" sz="1400" dirty="0"/>
          </a:p>
          <a:p>
            <a:pPr marL="342900" indent="-342900">
              <a:spcAft>
                <a:spcPts val="800"/>
              </a:spcAft>
              <a:buSzPct val="100000"/>
              <a:buChar char="•"/>
            </a:pPr>
            <a:r>
              <a:rPr lang="en-US" sz="1400" dirty="0">
                <a:solidFill>
                  <a:schemeClr val="tx1"/>
                </a:solidFill>
              </a:rPr>
              <a:t>Players with similar output can carry very different values.</a:t>
            </a:r>
            <a:endParaRPr lang="en-US" sz="1400" dirty="0"/>
          </a:p>
          <a:p>
            <a:pPr marL="342900" indent="-342900">
              <a:spcAft>
                <a:spcPts val="800"/>
              </a:spcAft>
              <a:buSzPct val="100000"/>
              <a:buChar char="•"/>
            </a:pPr>
            <a:r>
              <a:rPr lang="en-US" sz="1400" dirty="0">
                <a:solidFill>
                  <a:schemeClr val="tx1"/>
                </a:solidFill>
              </a:rPr>
              <a:t>Goal: describe which characteristics move with value, not predict a "true price".</a:t>
            </a:r>
            <a:endParaRPr lang="en-US" sz="1400" dirty="0"/>
          </a:p>
        </p:txBody>
      </p:sp>
      <p:sp>
        <p:nvSpPr>
          <p:cNvPr id="8" name="warning-card"/>
          <p:cNvSpPr/>
          <p:nvPr/>
        </p:nvSpPr>
        <p:spPr>
          <a:xfrm>
            <a:off x="5943600" y="1097280"/>
            <a:ext cx="2743200" cy="1737360"/>
          </a:xfrm>
          <a:prstGeom prst="roundRect">
            <a:avLst>
              <a:gd name="adj" fmla="val 4211"/>
            </a:avLst>
          </a:prstGeom>
          <a:solidFill>
            <a:schemeClr val="tx2"/>
          </a:solidFill>
          <a:ln w="12700">
            <a:solidFill>
              <a:schemeClr val="tx2"/>
            </a:solidFill>
            <a:prstDash val="solid"/>
          </a:ln>
        </p:spPr>
      </p:sp>
      <p:sp>
        <p:nvSpPr>
          <p:cNvPr id="9" name="Text 6"/>
          <p:cNvSpPr txBox="1"/>
          <p:nvPr/>
        </p:nvSpPr>
        <p:spPr>
          <a:xfrm>
            <a:off x="6126480" y="1234440"/>
            <a:ext cx="2377440" cy="68580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Market value ≠ transfer fee</a:t>
            </a:r>
            <a:endParaRPr lang="en-US" sz="1800" dirty="0"/>
          </a:p>
        </p:txBody>
      </p:sp>
      <p:sp>
        <p:nvSpPr>
          <p:cNvPr id="10" name="Text 7"/>
          <p:cNvSpPr txBox="1"/>
          <p:nvPr/>
        </p:nvSpPr>
        <p:spPr>
          <a:xfrm>
            <a:off x="6126480" y="1920240"/>
            <a:ext cx="2377440" cy="822960"/>
          </a:xfrm>
          <a:prstGeom prst="rect">
            <a:avLst/>
          </a:prstGeom>
          <a:noFill/>
          <a:ln/>
        </p:spPr>
        <p:txBody>
          <a:bodyPr wrap="square" lIns="0" tIns="0" rIns="0" bIns="0" rtlCol="0" anchor="t"/>
          <a:lstStyle/>
          <a:p>
            <a:pPr indent="0" marL="0">
              <a:buNone/>
            </a:pPr>
            <a:r>
              <a:rPr lang="en-US" sz="1200" dirty="0">
                <a:solidFill>
                  <a:srgbClr val="CADCFC"/>
                </a:solidFill>
              </a:rPr>
              <a:t>Transfermarkt's estimate at a point in time: not a price paid, not a true value.</a:t>
            </a:r>
            <a:endParaRPr lang="en-US" sz="1200" dirty="0"/>
          </a:p>
        </p:txBody>
      </p:sp>
      <p:sp>
        <p:nvSpPr>
          <p:cNvPr id="11" name="audience-card"/>
          <p:cNvSpPr/>
          <p:nvPr/>
        </p:nvSpPr>
        <p:spPr>
          <a:xfrm>
            <a:off x="5943600" y="3017520"/>
            <a:ext cx="2743200" cy="1463040"/>
          </a:xfrm>
          <a:prstGeom prst="roundRect">
            <a:avLst>
              <a:gd name="adj" fmla="val 5000"/>
            </a:avLst>
          </a:prstGeom>
          <a:solidFill>
            <a:schemeClr val="bg2"/>
          </a:solidFill>
          <a:ln w="12700">
            <a:solidFill>
              <a:schemeClr val="bg2"/>
            </a:solidFill>
            <a:prstDash val="solid"/>
          </a:ln>
        </p:spPr>
      </p:sp>
      <p:sp>
        <p:nvSpPr>
          <p:cNvPr id="12" name="Text 9"/>
          <p:cNvSpPr txBox="1"/>
          <p:nvPr/>
        </p:nvSpPr>
        <p:spPr>
          <a:xfrm>
            <a:off x="6126480" y="3127248"/>
            <a:ext cx="237744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WHO CARES</a:t>
            </a:r>
            <a:endParaRPr lang="en-US" sz="1000" dirty="0"/>
          </a:p>
        </p:txBody>
      </p:sp>
      <p:sp>
        <p:nvSpPr>
          <p:cNvPr id="13" name="Text 10"/>
          <p:cNvSpPr txBox="1"/>
          <p:nvPr/>
        </p:nvSpPr>
        <p:spPr>
          <a:xfrm>
            <a:off x="6126480" y="3383280"/>
            <a:ext cx="2377440" cy="1005840"/>
          </a:xfrm>
          <a:prstGeom prst="rect">
            <a:avLst/>
          </a:prstGeom>
          <a:noFill/>
          <a:ln/>
        </p:spPr>
        <p:txBody>
          <a:bodyPr wrap="square" lIns="0" tIns="0" rIns="0" bIns="0" rtlCol="0" anchor="t"/>
          <a:lstStyle/>
          <a:p>
            <a:pPr indent="0" marL="0">
              <a:buNone/>
            </a:pPr>
            <a:r>
              <a:rPr lang="en-US" sz="1200" dirty="0">
                <a:solidFill>
                  <a:schemeClr val="tx1"/>
                </a:solidFill>
              </a:rPr>
              <a:t>Fans and journalists who quote values, analysts and recruiters who use them, players and agents affected by them.</a:t>
            </a:r>
            <a:endParaRPr lang="en-US" sz="12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CA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Data: five seasons of Transfermarkt history</a:t>
            </a:r>
            <a:endParaRPr lang="en-US" sz="2400" dirty="0"/>
          </a:p>
        </p:txBody>
      </p:sp>
      <p:sp>
        <p:nvSpPr>
          <p:cNvPr id="4" name="stat0"/>
          <p:cNvSpPr/>
          <p:nvPr/>
        </p:nvSpPr>
        <p:spPr>
          <a:xfrm>
            <a:off x="457200" y="1097280"/>
            <a:ext cx="1920240" cy="1143000"/>
          </a:xfrm>
          <a:prstGeom prst="roundRect">
            <a:avLst>
              <a:gd name="adj" fmla="val 6400"/>
            </a:avLst>
          </a:prstGeom>
          <a:solidFill>
            <a:schemeClr val="bg2"/>
          </a:solidFill>
          <a:ln w="12700">
            <a:solidFill>
              <a:schemeClr val="bg2"/>
            </a:solidFill>
            <a:prstDash val="solid"/>
          </a:ln>
        </p:spPr>
      </p:sp>
      <p:sp>
        <p:nvSpPr>
          <p:cNvPr id="5" name="Text 2"/>
          <p:cNvSpPr txBox="1"/>
          <p:nvPr/>
        </p:nvSpPr>
        <p:spPr>
          <a:xfrm>
            <a:off x="640080" y="1207008"/>
            <a:ext cx="1645920" cy="50292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32,046</a:t>
            </a:r>
            <a:endParaRPr lang="en-US" sz="3000" dirty="0"/>
          </a:p>
        </p:txBody>
      </p:sp>
      <p:sp>
        <p:nvSpPr>
          <p:cNvPr id="6" name="Text 3"/>
          <p:cNvSpPr txBox="1"/>
          <p:nvPr/>
        </p:nvSpPr>
        <p:spPr>
          <a:xfrm>
            <a:off x="640080" y="1737360"/>
            <a:ext cx="1645920" cy="411480"/>
          </a:xfrm>
          <a:prstGeom prst="rect">
            <a:avLst/>
          </a:prstGeom>
          <a:noFill/>
          <a:ln/>
        </p:spPr>
        <p:txBody>
          <a:bodyPr wrap="square" lIns="0" tIns="0" rIns="0" bIns="0" rtlCol="0" anchor="t"/>
          <a:lstStyle/>
          <a:p>
            <a:pPr indent="0" marL="0">
              <a:buNone/>
            </a:pPr>
            <a:r>
              <a:rPr lang="en-US" sz="1200" dirty="0">
                <a:solidFill>
                  <a:schemeClr val="tx1"/>
                </a:solidFill>
              </a:rPr>
              <a:t>player-seasons</a:t>
            </a:r>
            <a:endParaRPr lang="en-US" sz="1200" dirty="0"/>
          </a:p>
        </p:txBody>
      </p:sp>
      <p:sp>
        <p:nvSpPr>
          <p:cNvPr id="7" name="stat1"/>
          <p:cNvSpPr/>
          <p:nvPr/>
        </p:nvSpPr>
        <p:spPr>
          <a:xfrm>
            <a:off x="2560320" y="1097280"/>
            <a:ext cx="1920240" cy="1143000"/>
          </a:xfrm>
          <a:prstGeom prst="roundRect">
            <a:avLst>
              <a:gd name="adj" fmla="val 6400"/>
            </a:avLst>
          </a:prstGeom>
          <a:solidFill>
            <a:schemeClr val="bg2"/>
          </a:solidFill>
          <a:ln w="12700">
            <a:solidFill>
              <a:schemeClr val="bg2"/>
            </a:solidFill>
            <a:prstDash val="solid"/>
          </a:ln>
        </p:spPr>
      </p:sp>
      <p:sp>
        <p:nvSpPr>
          <p:cNvPr id="8" name="Text 5"/>
          <p:cNvSpPr txBox="1"/>
          <p:nvPr/>
        </p:nvSpPr>
        <p:spPr>
          <a:xfrm>
            <a:off x="2743200" y="1207008"/>
            <a:ext cx="1645920" cy="50292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13,511</a:t>
            </a:r>
            <a:endParaRPr lang="en-US" sz="3000" dirty="0"/>
          </a:p>
        </p:txBody>
      </p:sp>
      <p:sp>
        <p:nvSpPr>
          <p:cNvPr id="9" name="Text 6"/>
          <p:cNvSpPr txBox="1"/>
          <p:nvPr/>
        </p:nvSpPr>
        <p:spPr>
          <a:xfrm>
            <a:off x="2743200" y="1737360"/>
            <a:ext cx="1645920" cy="411480"/>
          </a:xfrm>
          <a:prstGeom prst="rect">
            <a:avLst/>
          </a:prstGeom>
          <a:noFill/>
          <a:ln/>
        </p:spPr>
        <p:txBody>
          <a:bodyPr wrap="square" lIns="0" tIns="0" rIns="0" bIns="0" rtlCol="0" anchor="t"/>
          <a:lstStyle/>
          <a:p>
            <a:pPr indent="0" marL="0">
              <a:buNone/>
            </a:pPr>
            <a:r>
              <a:rPr lang="en-US" sz="1200" dirty="0">
                <a:solidFill>
                  <a:schemeClr val="tx1"/>
                </a:solidFill>
              </a:rPr>
              <a:t>distinct players</a:t>
            </a:r>
            <a:endParaRPr lang="en-US" sz="1200" dirty="0"/>
          </a:p>
        </p:txBody>
      </p:sp>
      <p:sp>
        <p:nvSpPr>
          <p:cNvPr id="10" name="stat2"/>
          <p:cNvSpPr/>
          <p:nvPr/>
        </p:nvSpPr>
        <p:spPr>
          <a:xfrm>
            <a:off x="4663440" y="1097280"/>
            <a:ext cx="1920240" cy="1143000"/>
          </a:xfrm>
          <a:prstGeom prst="roundRect">
            <a:avLst>
              <a:gd name="adj" fmla="val 6400"/>
            </a:avLst>
          </a:prstGeom>
          <a:solidFill>
            <a:schemeClr val="bg2"/>
          </a:solidFill>
          <a:ln w="12700">
            <a:solidFill>
              <a:schemeClr val="bg2"/>
            </a:solidFill>
            <a:prstDash val="solid"/>
          </a:ln>
        </p:spPr>
      </p:sp>
      <p:sp>
        <p:nvSpPr>
          <p:cNvPr id="11" name="Text 8"/>
          <p:cNvSpPr txBox="1"/>
          <p:nvPr/>
        </p:nvSpPr>
        <p:spPr>
          <a:xfrm>
            <a:off x="4846320" y="1207008"/>
            <a:ext cx="1645920" cy="50292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14</a:t>
            </a:r>
            <a:endParaRPr lang="en-US" sz="3000" dirty="0"/>
          </a:p>
        </p:txBody>
      </p:sp>
      <p:sp>
        <p:nvSpPr>
          <p:cNvPr id="12" name="Text 9"/>
          <p:cNvSpPr txBox="1"/>
          <p:nvPr/>
        </p:nvSpPr>
        <p:spPr>
          <a:xfrm>
            <a:off x="4846320" y="1737360"/>
            <a:ext cx="1645920" cy="411480"/>
          </a:xfrm>
          <a:prstGeom prst="rect">
            <a:avLst/>
          </a:prstGeom>
          <a:noFill/>
          <a:ln/>
        </p:spPr>
        <p:txBody>
          <a:bodyPr wrap="square" lIns="0" tIns="0" rIns="0" bIns="0" rtlCol="0" anchor="t"/>
          <a:lstStyle/>
          <a:p>
            <a:pPr indent="0" marL="0">
              <a:buNone/>
            </a:pPr>
            <a:r>
              <a:rPr lang="en-US" sz="1200" dirty="0">
                <a:solidFill>
                  <a:schemeClr val="tx1"/>
                </a:solidFill>
              </a:rPr>
              <a:t>domestic European leagues</a:t>
            </a:r>
            <a:endParaRPr lang="en-US" sz="1200" dirty="0"/>
          </a:p>
        </p:txBody>
      </p:sp>
      <p:sp>
        <p:nvSpPr>
          <p:cNvPr id="13" name="stat3"/>
          <p:cNvSpPr/>
          <p:nvPr/>
        </p:nvSpPr>
        <p:spPr>
          <a:xfrm>
            <a:off x="6766560" y="1097280"/>
            <a:ext cx="1920240" cy="1143000"/>
          </a:xfrm>
          <a:prstGeom prst="roundRect">
            <a:avLst>
              <a:gd name="adj" fmla="val 6400"/>
            </a:avLst>
          </a:prstGeom>
          <a:solidFill>
            <a:schemeClr val="bg2"/>
          </a:solidFill>
          <a:ln w="12700">
            <a:solidFill>
              <a:schemeClr val="bg2"/>
            </a:solidFill>
            <a:prstDash val="solid"/>
          </a:ln>
        </p:spPr>
      </p:sp>
      <p:sp>
        <p:nvSpPr>
          <p:cNvPr id="14" name="Text 11"/>
          <p:cNvSpPr txBox="1"/>
          <p:nvPr/>
        </p:nvSpPr>
        <p:spPr>
          <a:xfrm>
            <a:off x="6949440" y="1207008"/>
            <a:ext cx="1645920" cy="50292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5</a:t>
            </a:r>
            <a:endParaRPr lang="en-US" sz="3000" dirty="0"/>
          </a:p>
        </p:txBody>
      </p:sp>
      <p:sp>
        <p:nvSpPr>
          <p:cNvPr id="15" name="Text 12"/>
          <p:cNvSpPr txBox="1"/>
          <p:nvPr/>
        </p:nvSpPr>
        <p:spPr>
          <a:xfrm>
            <a:off x="6949440" y="1737360"/>
            <a:ext cx="1645920" cy="411480"/>
          </a:xfrm>
          <a:prstGeom prst="rect">
            <a:avLst/>
          </a:prstGeom>
          <a:noFill/>
          <a:ln/>
        </p:spPr>
        <p:txBody>
          <a:bodyPr wrap="square" lIns="0" tIns="0" rIns="0" bIns="0" rtlCol="0" anchor="t"/>
          <a:lstStyle/>
          <a:p>
            <a:pPr indent="0" marL="0">
              <a:buNone/>
            </a:pPr>
            <a:r>
              <a:rPr lang="en-US" sz="1200" dirty="0">
                <a:solidFill>
                  <a:schemeClr val="tx1"/>
                </a:solidFill>
              </a:rPr>
              <a:t>seasons, 2020/21 to 2024/25</a:t>
            </a:r>
            <a:endParaRPr lang="en-US" sz="1200" dirty="0"/>
          </a:p>
        </p:txBody>
      </p:sp>
      <p:sp>
        <p:nvSpPr>
          <p:cNvPr id="16" name="Text 13"/>
          <p:cNvSpPr txBox="1"/>
          <p:nvPr/>
        </p:nvSpPr>
        <p:spPr>
          <a:xfrm>
            <a:off x="457200" y="2560320"/>
            <a:ext cx="402336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One row = one player in one season</a:t>
            </a:r>
            <a:endParaRPr lang="en-US" sz="1800" dirty="0"/>
          </a:p>
        </p:txBody>
      </p:sp>
      <p:sp>
        <p:nvSpPr>
          <p:cNvPr id="17" name="Text 14"/>
          <p:cNvSpPr txBox="1"/>
          <p:nvPr/>
        </p:nvSpPr>
        <p:spPr>
          <a:xfrm>
            <a:off x="457200" y="3017520"/>
            <a:ext cx="402336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Source: David Caribou's public transfermarkt-datasets (CC0)</a:t>
            </a:r>
            <a:endParaRPr lang="en-US" sz="1400" dirty="0"/>
          </a:p>
          <a:p>
            <a:pPr marL="342900" indent="-342900">
              <a:spcAft>
                <a:spcPts val="600"/>
              </a:spcAft>
              <a:buSzPct val="100000"/>
              <a:buChar char="•"/>
            </a:pPr>
            <a:r>
              <a:rPr lang="en-US" sz="1400" dirty="0">
                <a:solidFill>
                  <a:schemeClr val="tx1"/>
                </a:solidFill>
              </a:rPr>
              <a:t>Match records summed into season totals</a:t>
            </a:r>
            <a:endParaRPr lang="en-US" sz="1400" dirty="0"/>
          </a:p>
          <a:p>
            <a:pPr marL="342900" indent="-342900">
              <a:spcAft>
                <a:spcPts val="600"/>
              </a:spcAft>
              <a:buSzPct val="100000"/>
              <a:buChar char="•"/>
            </a:pPr>
            <a:r>
              <a:rPr lang="en-US" sz="1400" dirty="0">
                <a:solidFill>
                  <a:schemeClr val="tx1"/>
                </a:solidFill>
              </a:rPr>
              <a:t>A player appears once for each season played</a:t>
            </a:r>
            <a:endParaRPr lang="en-US" sz="1400" dirty="0"/>
          </a:p>
        </p:txBody>
      </p:sp>
      <p:sp>
        <p:nvSpPr>
          <p:cNvPr id="18" name="Text 15"/>
          <p:cNvSpPr txBox="1"/>
          <p:nvPr/>
        </p:nvSpPr>
        <p:spPr>
          <a:xfrm>
            <a:off x="4846320" y="2560320"/>
            <a:ext cx="384048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Main variables</a:t>
            </a:r>
            <a:endParaRPr lang="en-US" sz="1800" dirty="0"/>
          </a:p>
        </p:txBody>
      </p:sp>
      <p:sp>
        <p:nvSpPr>
          <p:cNvPr id="19" name="chip0"/>
          <p:cNvSpPr/>
          <p:nvPr/>
        </p:nvSpPr>
        <p:spPr>
          <a:xfrm>
            <a:off x="4846320" y="3017520"/>
            <a:ext cx="1783080" cy="320040"/>
          </a:xfrm>
          <a:prstGeom prst="roundRect">
            <a:avLst>
              <a:gd name="adj" fmla="val 22857"/>
            </a:avLst>
          </a:prstGeom>
          <a:solidFill>
            <a:srgbClr val="E8EDF4"/>
          </a:solidFill>
          <a:ln w="12700">
            <a:solidFill>
              <a:srgbClr val="E8EDF4"/>
            </a:solidFill>
            <a:prstDash val="solid"/>
          </a:ln>
        </p:spPr>
      </p:sp>
      <p:sp>
        <p:nvSpPr>
          <p:cNvPr id="20" name="Text 17"/>
          <p:cNvSpPr txBox="1"/>
          <p:nvPr/>
        </p:nvSpPr>
        <p:spPr>
          <a:xfrm>
            <a:off x="4846320" y="3017520"/>
            <a:ext cx="1783080" cy="320040"/>
          </a:xfrm>
          <a:prstGeom prst="rect">
            <a:avLst/>
          </a:prstGeom>
          <a:noFill/>
          <a:ln/>
        </p:spPr>
        <p:txBody>
          <a:bodyPr wrap="square" lIns="0" tIns="0" rIns="0" bIns="0" rtlCol="0" anchor="ctr"/>
          <a:lstStyle/>
          <a:p>
            <a:pPr algn="ctr" indent="0" marL="0">
              <a:buNone/>
            </a:pPr>
            <a:r>
              <a:rPr lang="en-US" sz="1300" dirty="0">
                <a:solidFill>
                  <a:schemeClr val="tx2"/>
                </a:solidFill>
              </a:rPr>
              <a:t>Age</a:t>
            </a:r>
            <a:endParaRPr lang="en-US" sz="1300" dirty="0"/>
          </a:p>
        </p:txBody>
      </p:sp>
      <p:sp>
        <p:nvSpPr>
          <p:cNvPr id="21" name="chip1"/>
          <p:cNvSpPr/>
          <p:nvPr/>
        </p:nvSpPr>
        <p:spPr>
          <a:xfrm>
            <a:off x="6766560" y="3017520"/>
            <a:ext cx="1783080" cy="320040"/>
          </a:xfrm>
          <a:prstGeom prst="roundRect">
            <a:avLst>
              <a:gd name="adj" fmla="val 22857"/>
            </a:avLst>
          </a:prstGeom>
          <a:solidFill>
            <a:srgbClr val="E8EDF4"/>
          </a:solidFill>
          <a:ln w="12700">
            <a:solidFill>
              <a:srgbClr val="E8EDF4"/>
            </a:solidFill>
            <a:prstDash val="solid"/>
          </a:ln>
        </p:spPr>
      </p:sp>
      <p:sp>
        <p:nvSpPr>
          <p:cNvPr id="22" name="Text 19"/>
          <p:cNvSpPr txBox="1"/>
          <p:nvPr/>
        </p:nvSpPr>
        <p:spPr>
          <a:xfrm>
            <a:off x="6766560" y="3017520"/>
            <a:ext cx="1783080" cy="320040"/>
          </a:xfrm>
          <a:prstGeom prst="rect">
            <a:avLst/>
          </a:prstGeom>
          <a:noFill/>
          <a:ln/>
        </p:spPr>
        <p:txBody>
          <a:bodyPr wrap="square" lIns="0" tIns="0" rIns="0" bIns="0" rtlCol="0" anchor="ctr"/>
          <a:lstStyle/>
          <a:p>
            <a:pPr algn="ctr" indent="0" marL="0">
              <a:buNone/>
            </a:pPr>
            <a:r>
              <a:rPr lang="en-US" sz="1300" dirty="0">
                <a:solidFill>
                  <a:schemeClr val="tx2"/>
                </a:solidFill>
              </a:rPr>
              <a:t>Position</a:t>
            </a:r>
            <a:endParaRPr lang="en-US" sz="1300" dirty="0"/>
          </a:p>
        </p:txBody>
      </p:sp>
      <p:sp>
        <p:nvSpPr>
          <p:cNvPr id="23" name="chip2"/>
          <p:cNvSpPr/>
          <p:nvPr/>
        </p:nvSpPr>
        <p:spPr>
          <a:xfrm>
            <a:off x="4846320" y="3410712"/>
            <a:ext cx="1783080" cy="320040"/>
          </a:xfrm>
          <a:prstGeom prst="roundRect">
            <a:avLst>
              <a:gd name="adj" fmla="val 22857"/>
            </a:avLst>
          </a:prstGeom>
          <a:solidFill>
            <a:srgbClr val="E8EDF4"/>
          </a:solidFill>
          <a:ln w="12700">
            <a:solidFill>
              <a:srgbClr val="E8EDF4"/>
            </a:solidFill>
            <a:prstDash val="solid"/>
          </a:ln>
        </p:spPr>
      </p:sp>
      <p:sp>
        <p:nvSpPr>
          <p:cNvPr id="24" name="Text 21"/>
          <p:cNvSpPr txBox="1"/>
          <p:nvPr/>
        </p:nvSpPr>
        <p:spPr>
          <a:xfrm>
            <a:off x="4846320" y="3410712"/>
            <a:ext cx="1783080" cy="320040"/>
          </a:xfrm>
          <a:prstGeom prst="rect">
            <a:avLst/>
          </a:prstGeom>
          <a:noFill/>
          <a:ln/>
        </p:spPr>
        <p:txBody>
          <a:bodyPr wrap="square" lIns="0" tIns="0" rIns="0" bIns="0" rtlCol="0" anchor="ctr"/>
          <a:lstStyle/>
          <a:p>
            <a:pPr algn="ctr" indent="0" marL="0">
              <a:buNone/>
            </a:pPr>
            <a:r>
              <a:rPr lang="en-US" sz="1300" dirty="0">
                <a:solidFill>
                  <a:schemeClr val="tx2"/>
                </a:solidFill>
              </a:rPr>
              <a:t>Minutes</a:t>
            </a:r>
            <a:endParaRPr lang="en-US" sz="1300" dirty="0"/>
          </a:p>
        </p:txBody>
      </p:sp>
      <p:sp>
        <p:nvSpPr>
          <p:cNvPr id="25" name="chip3"/>
          <p:cNvSpPr/>
          <p:nvPr/>
        </p:nvSpPr>
        <p:spPr>
          <a:xfrm>
            <a:off x="6766560" y="3410712"/>
            <a:ext cx="1783080" cy="320040"/>
          </a:xfrm>
          <a:prstGeom prst="roundRect">
            <a:avLst>
              <a:gd name="adj" fmla="val 22857"/>
            </a:avLst>
          </a:prstGeom>
          <a:solidFill>
            <a:srgbClr val="E8EDF4"/>
          </a:solidFill>
          <a:ln w="12700">
            <a:solidFill>
              <a:srgbClr val="E8EDF4"/>
            </a:solidFill>
            <a:prstDash val="solid"/>
          </a:ln>
        </p:spPr>
      </p:sp>
      <p:sp>
        <p:nvSpPr>
          <p:cNvPr id="26" name="Text 23"/>
          <p:cNvSpPr txBox="1"/>
          <p:nvPr/>
        </p:nvSpPr>
        <p:spPr>
          <a:xfrm>
            <a:off x="6766560" y="3410712"/>
            <a:ext cx="1783080" cy="320040"/>
          </a:xfrm>
          <a:prstGeom prst="rect">
            <a:avLst/>
          </a:prstGeom>
          <a:noFill/>
          <a:ln/>
        </p:spPr>
        <p:txBody>
          <a:bodyPr wrap="square" lIns="0" tIns="0" rIns="0" bIns="0" rtlCol="0" anchor="ctr"/>
          <a:lstStyle/>
          <a:p>
            <a:pPr algn="ctr" indent="0" marL="0">
              <a:buNone/>
            </a:pPr>
            <a:r>
              <a:rPr lang="en-US" sz="1300" dirty="0">
                <a:solidFill>
                  <a:schemeClr val="tx2"/>
                </a:solidFill>
              </a:rPr>
              <a:t>Goals</a:t>
            </a:r>
            <a:endParaRPr lang="en-US" sz="1300" dirty="0"/>
          </a:p>
        </p:txBody>
      </p:sp>
      <p:sp>
        <p:nvSpPr>
          <p:cNvPr id="27" name="chip4"/>
          <p:cNvSpPr/>
          <p:nvPr/>
        </p:nvSpPr>
        <p:spPr>
          <a:xfrm>
            <a:off x="4846320" y="3803904"/>
            <a:ext cx="1783080" cy="320040"/>
          </a:xfrm>
          <a:prstGeom prst="roundRect">
            <a:avLst>
              <a:gd name="adj" fmla="val 22857"/>
            </a:avLst>
          </a:prstGeom>
          <a:solidFill>
            <a:srgbClr val="E8EDF4"/>
          </a:solidFill>
          <a:ln w="12700">
            <a:solidFill>
              <a:srgbClr val="E8EDF4"/>
            </a:solidFill>
            <a:prstDash val="solid"/>
          </a:ln>
        </p:spPr>
      </p:sp>
      <p:sp>
        <p:nvSpPr>
          <p:cNvPr id="28" name="Text 25"/>
          <p:cNvSpPr txBox="1"/>
          <p:nvPr/>
        </p:nvSpPr>
        <p:spPr>
          <a:xfrm>
            <a:off x="4846320" y="3803904"/>
            <a:ext cx="1783080" cy="320040"/>
          </a:xfrm>
          <a:prstGeom prst="rect">
            <a:avLst/>
          </a:prstGeom>
          <a:noFill/>
          <a:ln/>
        </p:spPr>
        <p:txBody>
          <a:bodyPr wrap="square" lIns="0" tIns="0" rIns="0" bIns="0" rtlCol="0" anchor="ctr"/>
          <a:lstStyle/>
          <a:p>
            <a:pPr algn="ctr" indent="0" marL="0">
              <a:buNone/>
            </a:pPr>
            <a:r>
              <a:rPr lang="en-US" sz="1300" dirty="0">
                <a:solidFill>
                  <a:schemeClr val="tx2"/>
                </a:solidFill>
              </a:rPr>
              <a:t>Assists</a:t>
            </a:r>
            <a:endParaRPr lang="en-US" sz="1300" dirty="0"/>
          </a:p>
        </p:txBody>
      </p:sp>
      <p:sp>
        <p:nvSpPr>
          <p:cNvPr id="29" name="chip5"/>
          <p:cNvSpPr/>
          <p:nvPr/>
        </p:nvSpPr>
        <p:spPr>
          <a:xfrm>
            <a:off x="6766560" y="3803904"/>
            <a:ext cx="1783080" cy="320040"/>
          </a:xfrm>
          <a:prstGeom prst="roundRect">
            <a:avLst>
              <a:gd name="adj" fmla="val 22857"/>
            </a:avLst>
          </a:prstGeom>
          <a:solidFill>
            <a:srgbClr val="E8EDF4"/>
          </a:solidFill>
          <a:ln w="12700">
            <a:solidFill>
              <a:srgbClr val="E8EDF4"/>
            </a:solidFill>
            <a:prstDash val="solid"/>
          </a:ln>
        </p:spPr>
      </p:sp>
      <p:sp>
        <p:nvSpPr>
          <p:cNvPr id="30" name="Text 27"/>
          <p:cNvSpPr txBox="1"/>
          <p:nvPr/>
        </p:nvSpPr>
        <p:spPr>
          <a:xfrm>
            <a:off x="6766560" y="3803904"/>
            <a:ext cx="1783080" cy="320040"/>
          </a:xfrm>
          <a:prstGeom prst="rect">
            <a:avLst/>
          </a:prstGeom>
          <a:noFill/>
          <a:ln/>
        </p:spPr>
        <p:txBody>
          <a:bodyPr wrap="square" lIns="0" tIns="0" rIns="0" bIns="0" rtlCol="0" anchor="ctr"/>
          <a:lstStyle/>
          <a:p>
            <a:pPr algn="ctr" indent="0" marL="0">
              <a:buNone/>
            </a:pPr>
            <a:r>
              <a:rPr lang="en-US" sz="1300" dirty="0">
                <a:solidFill>
                  <a:schemeClr val="tx2"/>
                </a:solidFill>
              </a:rPr>
              <a:t>Per-90 rates</a:t>
            </a:r>
            <a:endParaRPr lang="en-US" sz="1300" dirty="0"/>
          </a:p>
        </p:txBody>
      </p:sp>
      <p:sp>
        <p:nvSpPr>
          <p:cNvPr id="31" name="chip6"/>
          <p:cNvSpPr/>
          <p:nvPr/>
        </p:nvSpPr>
        <p:spPr>
          <a:xfrm>
            <a:off x="4846320" y="4197096"/>
            <a:ext cx="1783080" cy="320040"/>
          </a:xfrm>
          <a:prstGeom prst="roundRect">
            <a:avLst>
              <a:gd name="adj" fmla="val 22857"/>
            </a:avLst>
          </a:prstGeom>
          <a:solidFill>
            <a:srgbClr val="E8EDF4"/>
          </a:solidFill>
          <a:ln w="12700">
            <a:solidFill>
              <a:srgbClr val="E8EDF4"/>
            </a:solidFill>
            <a:prstDash val="solid"/>
          </a:ln>
        </p:spPr>
      </p:sp>
      <p:sp>
        <p:nvSpPr>
          <p:cNvPr id="32" name="Text 29"/>
          <p:cNvSpPr txBox="1"/>
          <p:nvPr/>
        </p:nvSpPr>
        <p:spPr>
          <a:xfrm>
            <a:off x="4846320" y="4197096"/>
            <a:ext cx="1783080" cy="320040"/>
          </a:xfrm>
          <a:prstGeom prst="rect">
            <a:avLst/>
          </a:prstGeom>
          <a:noFill/>
          <a:ln/>
        </p:spPr>
        <p:txBody>
          <a:bodyPr wrap="square" lIns="0" tIns="0" rIns="0" bIns="0" rtlCol="0" anchor="ctr"/>
          <a:lstStyle/>
          <a:p>
            <a:pPr algn="ctr" indent="0" marL="0">
              <a:buNone/>
            </a:pPr>
            <a:r>
              <a:rPr lang="en-US" sz="1300" dirty="0">
                <a:solidFill>
                  <a:schemeClr val="tx2"/>
                </a:solidFill>
              </a:rPr>
              <a:t>League</a:t>
            </a:r>
            <a:endParaRPr lang="en-US" sz="1300" dirty="0"/>
          </a:p>
        </p:txBody>
      </p:sp>
      <p:sp>
        <p:nvSpPr>
          <p:cNvPr id="33" name="chip7"/>
          <p:cNvSpPr/>
          <p:nvPr/>
        </p:nvSpPr>
        <p:spPr>
          <a:xfrm>
            <a:off x="6766560" y="4197096"/>
            <a:ext cx="1783080" cy="320040"/>
          </a:xfrm>
          <a:prstGeom prst="roundRect">
            <a:avLst>
              <a:gd name="adj" fmla="val 22857"/>
            </a:avLst>
          </a:prstGeom>
          <a:solidFill>
            <a:srgbClr val="E8EDF4"/>
          </a:solidFill>
          <a:ln w="12700">
            <a:solidFill>
              <a:srgbClr val="E8EDF4"/>
            </a:solidFill>
            <a:prstDash val="solid"/>
          </a:ln>
        </p:spPr>
      </p:sp>
      <p:sp>
        <p:nvSpPr>
          <p:cNvPr id="34" name="Text 31"/>
          <p:cNvSpPr txBox="1"/>
          <p:nvPr/>
        </p:nvSpPr>
        <p:spPr>
          <a:xfrm>
            <a:off x="6766560" y="4197096"/>
            <a:ext cx="1783080" cy="320040"/>
          </a:xfrm>
          <a:prstGeom prst="rect">
            <a:avLst/>
          </a:prstGeom>
          <a:noFill/>
          <a:ln/>
        </p:spPr>
        <p:txBody>
          <a:bodyPr wrap="square" lIns="0" tIns="0" rIns="0" bIns="0" rtlCol="0" anchor="ctr"/>
          <a:lstStyle/>
          <a:p>
            <a:pPr algn="ctr" indent="0" marL="0">
              <a:buNone/>
            </a:pPr>
            <a:r>
              <a:rPr lang="en-US" sz="1300" dirty="0">
                <a:solidFill>
                  <a:schemeClr val="tx2"/>
                </a:solidFill>
              </a:rPr>
              <a:t>Market value</a:t>
            </a:r>
            <a:endParaRPr lang="en-US" sz="13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CA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From 1.9 million match rows to one analytical table</a:t>
            </a:r>
            <a:endParaRPr lang="en-US" sz="2400" dirty="0"/>
          </a:p>
        </p:txBody>
      </p:sp>
      <p:sp>
        <p:nvSpPr>
          <p:cNvPr id="4" name="step0"/>
          <p:cNvSpPr/>
          <p:nvPr/>
        </p:nvSpPr>
        <p:spPr>
          <a:xfrm>
            <a:off x="457200" y="1097280"/>
            <a:ext cx="1207008" cy="868680"/>
          </a:xfrm>
          <a:prstGeom prst="roundRect">
            <a:avLst>
              <a:gd name="adj" fmla="val 8421"/>
            </a:avLst>
          </a:prstGeom>
          <a:solidFill>
            <a:schemeClr val="bg2"/>
          </a:solidFill>
          <a:ln w="12700">
            <a:solidFill>
              <a:schemeClr val="bg2"/>
            </a:solidFill>
            <a:prstDash val="solid"/>
          </a:ln>
        </p:spPr>
      </p:sp>
      <p:sp>
        <p:nvSpPr>
          <p:cNvPr id="5" name="Text 2"/>
          <p:cNvSpPr txBox="1"/>
          <p:nvPr/>
        </p:nvSpPr>
        <p:spPr>
          <a:xfrm>
            <a:off x="530352" y="1097280"/>
            <a:ext cx="1060704" cy="868680"/>
          </a:xfrm>
          <a:prstGeom prst="rect">
            <a:avLst/>
          </a:prstGeom>
          <a:noFill/>
          <a:ln/>
        </p:spPr>
        <p:txBody>
          <a:bodyPr wrap="square" lIns="0" tIns="0" rIns="0" bIns="0" rtlCol="0" anchor="ctr"/>
          <a:lstStyle/>
          <a:p>
            <a:pPr algn="ctr" indent="0" marL="0">
              <a:buNone/>
            </a:pPr>
            <a:r>
              <a:rPr lang="en-US" sz="1200" dirty="0">
                <a:solidFill>
                  <a:schemeClr val="tx2"/>
                </a:solidFill>
              </a:rPr>
              <a:t>Match appearances</a:t>
            </a:r>
            <a:endParaRPr lang="en-US" sz="1200" dirty="0"/>
          </a:p>
        </p:txBody>
      </p:sp>
      <p:sp>
        <p:nvSpPr>
          <p:cNvPr id="6" name="Text 3"/>
          <p:cNvSpPr txBox="1"/>
          <p:nvPr/>
        </p:nvSpPr>
        <p:spPr>
          <a:xfrm>
            <a:off x="1664208" y="1325880"/>
            <a:ext cx="182880" cy="365760"/>
          </a:xfrm>
          <a:prstGeom prst="rect">
            <a:avLst/>
          </a:prstGeom>
          <a:noFill/>
          <a:ln/>
        </p:spPr>
        <p:txBody>
          <a:bodyPr wrap="square" lIns="0" tIns="0" rIns="0" bIns="0" rtlCol="0" anchor="t"/>
          <a:lstStyle/>
          <a:p>
            <a:pPr algn="ctr" indent="0" marL="0">
              <a:buNone/>
            </a:pPr>
            <a:r>
              <a:rPr lang="en-US" sz="1400" dirty="0">
                <a:solidFill>
                  <a:schemeClr val="accent1"/>
                </a:solidFill>
              </a:rPr>
              <a:t>→</a:t>
            </a:r>
            <a:endParaRPr lang="en-US" sz="1400" dirty="0"/>
          </a:p>
        </p:txBody>
      </p:sp>
      <p:sp>
        <p:nvSpPr>
          <p:cNvPr id="7" name="step1"/>
          <p:cNvSpPr/>
          <p:nvPr/>
        </p:nvSpPr>
        <p:spPr>
          <a:xfrm>
            <a:off x="1847088" y="1097280"/>
            <a:ext cx="1207008" cy="868680"/>
          </a:xfrm>
          <a:prstGeom prst="roundRect">
            <a:avLst>
              <a:gd name="adj" fmla="val 8421"/>
            </a:avLst>
          </a:prstGeom>
          <a:solidFill>
            <a:schemeClr val="bg2"/>
          </a:solidFill>
          <a:ln w="12700">
            <a:solidFill>
              <a:schemeClr val="bg2"/>
            </a:solidFill>
            <a:prstDash val="solid"/>
          </a:ln>
        </p:spPr>
      </p:sp>
      <p:sp>
        <p:nvSpPr>
          <p:cNvPr id="8" name="Text 5"/>
          <p:cNvSpPr txBox="1"/>
          <p:nvPr/>
        </p:nvSpPr>
        <p:spPr>
          <a:xfrm>
            <a:off x="1920240" y="1097280"/>
            <a:ext cx="1060704" cy="868680"/>
          </a:xfrm>
          <a:prstGeom prst="rect">
            <a:avLst/>
          </a:prstGeom>
          <a:noFill/>
          <a:ln/>
        </p:spPr>
        <p:txBody>
          <a:bodyPr wrap="square" lIns="0" tIns="0" rIns="0" bIns="0" rtlCol="0" anchor="ctr"/>
          <a:lstStyle/>
          <a:p>
            <a:pPr algn="ctr" indent="0" marL="0">
              <a:buNone/>
            </a:pPr>
            <a:r>
              <a:rPr lang="en-US" sz="1200" dirty="0">
                <a:solidFill>
                  <a:schemeClr val="tx2"/>
                </a:solidFill>
              </a:rPr>
              <a:t>Games: season and league</a:t>
            </a:r>
            <a:endParaRPr lang="en-US" sz="1200" dirty="0"/>
          </a:p>
        </p:txBody>
      </p:sp>
      <p:sp>
        <p:nvSpPr>
          <p:cNvPr id="9" name="Text 6"/>
          <p:cNvSpPr txBox="1"/>
          <p:nvPr/>
        </p:nvSpPr>
        <p:spPr>
          <a:xfrm>
            <a:off x="3054096" y="1325880"/>
            <a:ext cx="182880" cy="365760"/>
          </a:xfrm>
          <a:prstGeom prst="rect">
            <a:avLst/>
          </a:prstGeom>
          <a:noFill/>
          <a:ln/>
        </p:spPr>
        <p:txBody>
          <a:bodyPr wrap="square" lIns="0" tIns="0" rIns="0" bIns="0" rtlCol="0" anchor="t"/>
          <a:lstStyle/>
          <a:p>
            <a:pPr algn="ctr" indent="0" marL="0">
              <a:buNone/>
            </a:pPr>
            <a:r>
              <a:rPr lang="en-US" sz="1400" dirty="0">
                <a:solidFill>
                  <a:schemeClr val="accent1"/>
                </a:solidFill>
              </a:rPr>
              <a:t>→</a:t>
            </a:r>
            <a:endParaRPr lang="en-US" sz="1400" dirty="0"/>
          </a:p>
        </p:txBody>
      </p:sp>
      <p:sp>
        <p:nvSpPr>
          <p:cNvPr id="10" name="step2"/>
          <p:cNvSpPr/>
          <p:nvPr/>
        </p:nvSpPr>
        <p:spPr>
          <a:xfrm>
            <a:off x="3236976" y="1097280"/>
            <a:ext cx="1207008" cy="868680"/>
          </a:xfrm>
          <a:prstGeom prst="roundRect">
            <a:avLst>
              <a:gd name="adj" fmla="val 8421"/>
            </a:avLst>
          </a:prstGeom>
          <a:solidFill>
            <a:schemeClr val="bg2"/>
          </a:solidFill>
          <a:ln w="12700">
            <a:solidFill>
              <a:schemeClr val="bg2"/>
            </a:solidFill>
            <a:prstDash val="solid"/>
          </a:ln>
        </p:spPr>
      </p:sp>
      <p:sp>
        <p:nvSpPr>
          <p:cNvPr id="11" name="Text 8"/>
          <p:cNvSpPr txBox="1"/>
          <p:nvPr/>
        </p:nvSpPr>
        <p:spPr>
          <a:xfrm>
            <a:off x="3310128" y="1097280"/>
            <a:ext cx="1060704" cy="868680"/>
          </a:xfrm>
          <a:prstGeom prst="rect">
            <a:avLst/>
          </a:prstGeom>
          <a:noFill/>
          <a:ln/>
        </p:spPr>
        <p:txBody>
          <a:bodyPr wrap="square" lIns="0" tIns="0" rIns="0" bIns="0" rtlCol="0" anchor="ctr"/>
          <a:lstStyle/>
          <a:p>
            <a:pPr algn="ctr" indent="0" marL="0">
              <a:buNone/>
            </a:pPr>
            <a:r>
              <a:rPr lang="en-US" sz="1200" dirty="0">
                <a:solidFill>
                  <a:schemeClr val="tx2"/>
                </a:solidFill>
              </a:rPr>
              <a:t>Sum per player-season</a:t>
            </a:r>
            <a:endParaRPr lang="en-US" sz="1200" dirty="0"/>
          </a:p>
        </p:txBody>
      </p:sp>
      <p:sp>
        <p:nvSpPr>
          <p:cNvPr id="12" name="Text 9"/>
          <p:cNvSpPr txBox="1"/>
          <p:nvPr/>
        </p:nvSpPr>
        <p:spPr>
          <a:xfrm>
            <a:off x="4443984" y="1325880"/>
            <a:ext cx="182880" cy="365760"/>
          </a:xfrm>
          <a:prstGeom prst="rect">
            <a:avLst/>
          </a:prstGeom>
          <a:noFill/>
          <a:ln/>
        </p:spPr>
        <p:txBody>
          <a:bodyPr wrap="square" lIns="0" tIns="0" rIns="0" bIns="0" rtlCol="0" anchor="t"/>
          <a:lstStyle/>
          <a:p>
            <a:pPr algn="ctr" indent="0" marL="0">
              <a:buNone/>
            </a:pPr>
            <a:r>
              <a:rPr lang="en-US" sz="1400" dirty="0">
                <a:solidFill>
                  <a:schemeClr val="accent1"/>
                </a:solidFill>
              </a:rPr>
              <a:t>→</a:t>
            </a:r>
            <a:endParaRPr lang="en-US" sz="1400" dirty="0"/>
          </a:p>
        </p:txBody>
      </p:sp>
      <p:sp>
        <p:nvSpPr>
          <p:cNvPr id="13" name="step3"/>
          <p:cNvSpPr/>
          <p:nvPr/>
        </p:nvSpPr>
        <p:spPr>
          <a:xfrm>
            <a:off x="4626864" y="1097280"/>
            <a:ext cx="1207008" cy="868680"/>
          </a:xfrm>
          <a:prstGeom prst="roundRect">
            <a:avLst>
              <a:gd name="adj" fmla="val 8421"/>
            </a:avLst>
          </a:prstGeom>
          <a:solidFill>
            <a:schemeClr val="bg2"/>
          </a:solidFill>
          <a:ln w="12700">
            <a:solidFill>
              <a:schemeClr val="bg2"/>
            </a:solidFill>
            <a:prstDash val="solid"/>
          </a:ln>
        </p:spPr>
      </p:sp>
      <p:sp>
        <p:nvSpPr>
          <p:cNvPr id="14" name="Text 11"/>
          <p:cNvSpPr txBox="1"/>
          <p:nvPr/>
        </p:nvSpPr>
        <p:spPr>
          <a:xfrm>
            <a:off x="4700016" y="1097280"/>
            <a:ext cx="1060704" cy="868680"/>
          </a:xfrm>
          <a:prstGeom prst="rect">
            <a:avLst/>
          </a:prstGeom>
          <a:noFill/>
          <a:ln/>
        </p:spPr>
        <p:txBody>
          <a:bodyPr wrap="square" lIns="0" tIns="0" rIns="0" bIns="0" rtlCol="0" anchor="ctr"/>
          <a:lstStyle/>
          <a:p>
            <a:pPr algn="ctr" indent="0" marL="0">
              <a:buNone/>
            </a:pPr>
            <a:r>
              <a:rPr lang="en-US" sz="1200" dirty="0">
                <a:solidFill>
                  <a:schemeClr val="tx2"/>
                </a:solidFill>
              </a:rPr>
              <a:t>Player details (age, position)</a:t>
            </a:r>
            <a:endParaRPr lang="en-US" sz="1200" dirty="0"/>
          </a:p>
        </p:txBody>
      </p:sp>
      <p:sp>
        <p:nvSpPr>
          <p:cNvPr id="15" name="Text 12"/>
          <p:cNvSpPr txBox="1"/>
          <p:nvPr/>
        </p:nvSpPr>
        <p:spPr>
          <a:xfrm>
            <a:off x="5833872" y="1325880"/>
            <a:ext cx="182880" cy="365760"/>
          </a:xfrm>
          <a:prstGeom prst="rect">
            <a:avLst/>
          </a:prstGeom>
          <a:noFill/>
          <a:ln/>
        </p:spPr>
        <p:txBody>
          <a:bodyPr wrap="square" lIns="0" tIns="0" rIns="0" bIns="0" rtlCol="0" anchor="t"/>
          <a:lstStyle/>
          <a:p>
            <a:pPr algn="ctr" indent="0" marL="0">
              <a:buNone/>
            </a:pPr>
            <a:r>
              <a:rPr lang="en-US" sz="1400" dirty="0">
                <a:solidFill>
                  <a:schemeClr val="accent1"/>
                </a:solidFill>
              </a:rPr>
              <a:t>→</a:t>
            </a:r>
            <a:endParaRPr lang="en-US" sz="1400" dirty="0"/>
          </a:p>
        </p:txBody>
      </p:sp>
      <p:sp>
        <p:nvSpPr>
          <p:cNvPr id="16" name="step4"/>
          <p:cNvSpPr/>
          <p:nvPr/>
        </p:nvSpPr>
        <p:spPr>
          <a:xfrm>
            <a:off x="6016752" y="1097280"/>
            <a:ext cx="1207008" cy="868680"/>
          </a:xfrm>
          <a:prstGeom prst="roundRect">
            <a:avLst>
              <a:gd name="adj" fmla="val 8421"/>
            </a:avLst>
          </a:prstGeom>
          <a:solidFill>
            <a:schemeClr val="bg2"/>
          </a:solidFill>
          <a:ln w="12700">
            <a:solidFill>
              <a:schemeClr val="bg2"/>
            </a:solidFill>
            <a:prstDash val="solid"/>
          </a:ln>
        </p:spPr>
      </p:sp>
      <p:sp>
        <p:nvSpPr>
          <p:cNvPr id="17" name="Text 14"/>
          <p:cNvSpPr txBox="1"/>
          <p:nvPr/>
        </p:nvSpPr>
        <p:spPr>
          <a:xfrm>
            <a:off x="6089904" y="1097280"/>
            <a:ext cx="1060704" cy="868680"/>
          </a:xfrm>
          <a:prstGeom prst="rect">
            <a:avLst/>
          </a:prstGeom>
          <a:noFill/>
          <a:ln/>
        </p:spPr>
        <p:txBody>
          <a:bodyPr wrap="square" lIns="0" tIns="0" rIns="0" bIns="0" rtlCol="0" anchor="ctr"/>
          <a:lstStyle/>
          <a:p>
            <a:pPr algn="ctr" indent="0" marL="0">
              <a:buNone/>
            </a:pPr>
            <a:r>
              <a:rPr lang="en-US" sz="1200" dirty="0">
                <a:solidFill>
                  <a:schemeClr val="tx2"/>
                </a:solidFill>
              </a:rPr>
              <a:t>Season-end valuation</a:t>
            </a:r>
            <a:endParaRPr lang="en-US" sz="1200" dirty="0"/>
          </a:p>
        </p:txBody>
      </p:sp>
      <p:sp>
        <p:nvSpPr>
          <p:cNvPr id="18" name="Text 15"/>
          <p:cNvSpPr txBox="1"/>
          <p:nvPr/>
        </p:nvSpPr>
        <p:spPr>
          <a:xfrm>
            <a:off x="7223760" y="1325880"/>
            <a:ext cx="182880" cy="365760"/>
          </a:xfrm>
          <a:prstGeom prst="rect">
            <a:avLst/>
          </a:prstGeom>
          <a:noFill/>
          <a:ln/>
        </p:spPr>
        <p:txBody>
          <a:bodyPr wrap="square" lIns="0" tIns="0" rIns="0" bIns="0" rtlCol="0" anchor="t"/>
          <a:lstStyle/>
          <a:p>
            <a:pPr algn="ctr" indent="0" marL="0">
              <a:buNone/>
            </a:pPr>
            <a:r>
              <a:rPr lang="en-US" sz="1400" dirty="0">
                <a:solidFill>
                  <a:schemeClr val="accent1"/>
                </a:solidFill>
              </a:rPr>
              <a:t>→</a:t>
            </a:r>
            <a:endParaRPr lang="en-US" sz="1400" dirty="0"/>
          </a:p>
        </p:txBody>
      </p:sp>
      <p:sp>
        <p:nvSpPr>
          <p:cNvPr id="19" name="step5"/>
          <p:cNvSpPr/>
          <p:nvPr/>
        </p:nvSpPr>
        <p:spPr>
          <a:xfrm>
            <a:off x="7406640" y="1097280"/>
            <a:ext cx="1207008" cy="868680"/>
          </a:xfrm>
          <a:prstGeom prst="roundRect">
            <a:avLst>
              <a:gd name="adj" fmla="val 8421"/>
            </a:avLst>
          </a:prstGeom>
          <a:solidFill>
            <a:schemeClr val="tx2"/>
          </a:solidFill>
          <a:ln w="12700">
            <a:solidFill>
              <a:schemeClr val="tx2"/>
            </a:solidFill>
            <a:prstDash val="solid"/>
          </a:ln>
        </p:spPr>
      </p:sp>
      <p:sp>
        <p:nvSpPr>
          <p:cNvPr id="20" name="Text 17"/>
          <p:cNvSpPr txBox="1"/>
          <p:nvPr/>
        </p:nvSpPr>
        <p:spPr>
          <a:xfrm>
            <a:off x="7479792" y="1097280"/>
            <a:ext cx="1060704" cy="868680"/>
          </a:xfrm>
          <a:prstGeom prst="rect">
            <a:avLst/>
          </a:prstGeom>
          <a:noFill/>
          <a:ln/>
        </p:spPr>
        <p:txBody>
          <a:bodyPr wrap="square" lIns="0" tIns="0" rIns="0" bIns="0" rtlCol="0" anchor="ctr"/>
          <a:lstStyle/>
          <a:p>
            <a:pPr algn="ctr" indent="0" marL="0">
              <a:buNone/>
            </a:pPr>
            <a:r>
              <a:rPr lang="en-US" sz="1200" b="1" dirty="0">
                <a:solidFill>
                  <a:schemeClr val="bg1"/>
                </a:solidFill>
              </a:rPr>
              <a:t>Clean player-season table</a:t>
            </a:r>
            <a:endParaRPr lang="en-US" sz="1200" dirty="0"/>
          </a:p>
        </p:txBody>
      </p:sp>
      <p:sp>
        <p:nvSpPr>
          <p:cNvPr id="21" name="rule0"/>
          <p:cNvSpPr/>
          <p:nvPr/>
        </p:nvSpPr>
        <p:spPr>
          <a:xfrm>
            <a:off x="457200" y="2286000"/>
            <a:ext cx="2606040" cy="1691640"/>
          </a:xfrm>
          <a:prstGeom prst="roundRect">
            <a:avLst>
              <a:gd name="adj" fmla="val 4324"/>
            </a:avLst>
          </a:prstGeom>
          <a:solidFill>
            <a:schemeClr val="bg2"/>
          </a:solidFill>
          <a:ln w="12700">
            <a:solidFill>
              <a:schemeClr val="bg2"/>
            </a:solidFill>
            <a:prstDash val="solid"/>
          </a:ln>
        </p:spPr>
      </p:sp>
      <p:sp>
        <p:nvSpPr>
          <p:cNvPr id="22" name="Text 19"/>
          <p:cNvSpPr txBox="1"/>
          <p:nvPr/>
        </p:nvSpPr>
        <p:spPr>
          <a:xfrm>
            <a:off x="640080" y="2395728"/>
            <a:ext cx="2240280" cy="41148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450 minutes</a:t>
            </a:r>
            <a:endParaRPr lang="en-US" sz="1800" dirty="0"/>
          </a:p>
        </p:txBody>
      </p:sp>
      <p:sp>
        <p:nvSpPr>
          <p:cNvPr id="23" name="Text 20"/>
          <p:cNvSpPr txBox="1"/>
          <p:nvPr/>
        </p:nvSpPr>
        <p:spPr>
          <a:xfrm>
            <a:off x="640080" y="2834640"/>
            <a:ext cx="2240280" cy="1097280"/>
          </a:xfrm>
          <a:prstGeom prst="rect">
            <a:avLst/>
          </a:prstGeom>
          <a:noFill/>
          <a:ln/>
        </p:spPr>
        <p:txBody>
          <a:bodyPr wrap="square" lIns="0" tIns="0" rIns="0" bIns="0" rtlCol="0" anchor="t"/>
          <a:lstStyle/>
          <a:p>
            <a:pPr indent="0" marL="0">
              <a:buNone/>
            </a:pPr>
            <a:r>
              <a:rPr lang="en-US" sz="1300" dirty="0">
                <a:solidFill>
                  <a:schemeClr val="tx1"/>
                </a:solidFill>
              </a:rPr>
              <a:t>Per-90 rates only for players with at least 450 minutes (five full matches). 1 goal in 1 minute = 90 per 90.</a:t>
            </a:r>
            <a:endParaRPr lang="en-US" sz="1300" dirty="0"/>
          </a:p>
        </p:txBody>
      </p:sp>
      <p:sp>
        <p:nvSpPr>
          <p:cNvPr id="24" name="rule1"/>
          <p:cNvSpPr/>
          <p:nvPr/>
        </p:nvSpPr>
        <p:spPr>
          <a:xfrm>
            <a:off x="3246120" y="2286000"/>
            <a:ext cx="2606040" cy="1691640"/>
          </a:xfrm>
          <a:prstGeom prst="roundRect">
            <a:avLst>
              <a:gd name="adj" fmla="val 4324"/>
            </a:avLst>
          </a:prstGeom>
          <a:solidFill>
            <a:schemeClr val="bg2"/>
          </a:solidFill>
          <a:ln w="12700">
            <a:solidFill>
              <a:schemeClr val="bg2"/>
            </a:solidFill>
            <a:prstDash val="solid"/>
          </a:ln>
        </p:spPr>
      </p:sp>
      <p:sp>
        <p:nvSpPr>
          <p:cNvPr id="25" name="Text 22"/>
          <p:cNvSpPr txBox="1"/>
          <p:nvPr/>
        </p:nvSpPr>
        <p:spPr>
          <a:xfrm>
            <a:off x="3429000" y="2395728"/>
            <a:ext cx="2240280" cy="41148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July 31 rule</a:t>
            </a:r>
            <a:endParaRPr lang="en-US" sz="1800" dirty="0"/>
          </a:p>
        </p:txBody>
      </p:sp>
      <p:sp>
        <p:nvSpPr>
          <p:cNvPr id="26" name="Text 23"/>
          <p:cNvSpPr txBox="1"/>
          <p:nvPr/>
        </p:nvSpPr>
        <p:spPr>
          <a:xfrm>
            <a:off x="3429000" y="2834640"/>
            <a:ext cx="2240280" cy="1097280"/>
          </a:xfrm>
          <a:prstGeom prst="rect">
            <a:avLst/>
          </a:prstGeom>
          <a:noFill/>
          <a:ln/>
        </p:spPr>
        <p:txBody>
          <a:bodyPr wrap="square" lIns="0" tIns="0" rIns="0" bIns="0" rtlCol="0" anchor="t"/>
          <a:lstStyle/>
          <a:p>
            <a:pPr indent="0" marL="0">
              <a:buNone/>
            </a:pPr>
            <a:r>
              <a:rPr lang="en-US" sz="1300" dirty="0">
                <a:solidFill>
                  <a:schemeClr val="tx1"/>
                </a:solidFill>
              </a:rPr>
              <a:t>Season value = latest Transfermarkt valuation on or before July 31 after the season.</a:t>
            </a:r>
            <a:endParaRPr lang="en-US" sz="1300" dirty="0"/>
          </a:p>
        </p:txBody>
      </p:sp>
      <p:sp>
        <p:nvSpPr>
          <p:cNvPr id="27" name="rule2"/>
          <p:cNvSpPr/>
          <p:nvPr/>
        </p:nvSpPr>
        <p:spPr>
          <a:xfrm>
            <a:off x="6035040" y="2286000"/>
            <a:ext cx="2606040" cy="1691640"/>
          </a:xfrm>
          <a:prstGeom prst="roundRect">
            <a:avLst>
              <a:gd name="adj" fmla="val 4324"/>
            </a:avLst>
          </a:prstGeom>
          <a:solidFill>
            <a:schemeClr val="bg2"/>
          </a:solidFill>
          <a:ln w="12700">
            <a:solidFill>
              <a:schemeClr val="bg2"/>
            </a:solidFill>
            <a:prstDash val="solid"/>
          </a:ln>
        </p:spPr>
      </p:sp>
      <p:sp>
        <p:nvSpPr>
          <p:cNvPr id="28" name="Text 25"/>
          <p:cNvSpPr txBox="1"/>
          <p:nvPr/>
        </p:nvSpPr>
        <p:spPr>
          <a:xfrm>
            <a:off x="6217920" y="2395728"/>
            <a:ext cx="2240280" cy="41148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365 days</a:t>
            </a:r>
            <a:endParaRPr lang="en-US" sz="1800" dirty="0"/>
          </a:p>
        </p:txBody>
      </p:sp>
      <p:sp>
        <p:nvSpPr>
          <p:cNvPr id="29" name="Text 26"/>
          <p:cNvSpPr txBox="1"/>
          <p:nvPr/>
        </p:nvSpPr>
        <p:spPr>
          <a:xfrm>
            <a:off x="6217920" y="2834640"/>
            <a:ext cx="2240280" cy="1097280"/>
          </a:xfrm>
          <a:prstGeom prst="rect">
            <a:avLst/>
          </a:prstGeom>
          <a:noFill/>
          <a:ln/>
        </p:spPr>
        <p:txBody>
          <a:bodyPr wrap="square" lIns="0" tIns="0" rIns="0" bIns="0" rtlCol="0" anchor="t"/>
          <a:lstStyle/>
          <a:p>
            <a:pPr indent="0" marL="0">
              <a:buNone/>
            </a:pPr>
            <a:r>
              <a:rPr lang="en-US" sz="1300" dirty="0">
                <a:solidFill>
                  <a:schemeClr val="tx1"/>
                </a:solidFill>
              </a:rPr>
              <a:t>Valuations more than a year old at that date are excluded, so no stale values.</a:t>
            </a:r>
            <a:endParaRPr lang="en-US" sz="1300" dirty="0"/>
          </a:p>
        </p:txBody>
      </p:sp>
      <p:sp>
        <p:nvSpPr>
          <p:cNvPr id="30" name="Text 27"/>
          <p:cNvSpPr txBox="1"/>
          <p:nvPr/>
        </p:nvSpPr>
        <p:spPr>
          <a:xfrm>
            <a:off x="457200" y="4160520"/>
            <a:ext cx="8229600" cy="548640"/>
          </a:xfrm>
          <a:prstGeom prst="rect">
            <a:avLst/>
          </a:prstGeom>
          <a:noFill/>
          <a:ln/>
        </p:spPr>
        <p:txBody>
          <a:bodyPr wrap="square" lIns="0" tIns="0" rIns="0" bIns="0" rtlCol="0" anchor="t"/>
          <a:lstStyle/>
          <a:p>
            <a:pPr indent="0" marL="0">
              <a:buNone/>
            </a:pPr>
            <a:r>
              <a:rPr lang="en-US" sz="1200" dirty="0">
                <a:solidFill>
                  <a:schemeClr val="tx1"/>
                </a:solidFill>
              </a:rPr>
              <a:t>32,966 → 32,046 player-seasons: 920 rows (2.8%) excluded for missing position or birth date, missing valuations, or valuations more than a year old. Players changing clubs keep one row, labelled by the club where they played most.</a:t>
            </a:r>
            <a:endParaRPr lang="en-US" sz="12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CA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Age matters, but not in a straight line</a:t>
            </a:r>
            <a:endParaRPr lang="en-US" sz="2400" dirty="0"/>
          </a:p>
        </p:txBody>
      </p:sp>
      <p:pic>
        <p:nvPicPr>
          <p:cNvPr id="4" name="age.png" descr="/Users/niloysaha/IdeaProjects/DATA400-football-player-market-value-analysis/presentation/figures/age.png">    </p:cNvPr>
          <p:cNvPicPr>
            <a:picLocks noChangeAspect="1"/>
          </p:cNvPicPr>
          <p:nvPr/>
        </p:nvPicPr>
        <p:blipFill>
          <a:blip r:embed="rId1"/>
          <a:stretch>
            <a:fillRect/>
          </a:stretch>
        </p:blipFill>
        <p:spPr>
          <a:xfrm>
            <a:off x="365760" y="1005840"/>
            <a:ext cx="5212080" cy="3392424"/>
          </a:xfrm>
          <a:prstGeom prst="rect">
            <a:avLst/>
          </a:prstGeom>
        </p:spPr>
      </p:pic>
      <p:graphicFrame>
        <p:nvGraphicFramePr>
          <p:cNvPr id="5" name="age-group-chart" descr=""/>
          <p:cNvGraphicFramePr/>
          <p:nvPr/>
        </p:nvGraphicFramePr>
        <p:xfrm>
          <a:off x="5715000" y="960120"/>
          <a:ext cx="3063240" cy="2057400"/>
        </p:xfrm>
        <a:graphic xmlns:a="http://schemas.openxmlformats.org/drawingml/2006/main">
          <a:graphicData uri="http://schemas.openxmlformats.org/drawingml/2006/chart">
            <c:chart xmlns:c="http://schemas.openxmlformats.org/drawingml/2006/chart" r:id="rId2"/>
          </a:graphicData>
        </a:graphic>
      </p:graphicFrame>
      <p:sp>
        <p:nvSpPr>
          <p:cNvPr id="6" name="rho-card"/>
          <p:cNvSpPr/>
          <p:nvPr/>
        </p:nvSpPr>
        <p:spPr>
          <a:xfrm>
            <a:off x="5760720" y="3154680"/>
            <a:ext cx="2971800" cy="1280160"/>
          </a:xfrm>
          <a:prstGeom prst="roundRect">
            <a:avLst>
              <a:gd name="adj" fmla="val 5714"/>
            </a:avLst>
          </a:prstGeom>
          <a:solidFill>
            <a:schemeClr val="bg2"/>
          </a:solidFill>
          <a:ln w="12700">
            <a:solidFill>
              <a:schemeClr val="bg2"/>
            </a:solidFill>
            <a:prstDash val="solid"/>
          </a:ln>
        </p:spPr>
      </p:sp>
      <p:sp>
        <p:nvSpPr>
          <p:cNvPr id="7" name="Text 2"/>
          <p:cNvSpPr txBox="1"/>
          <p:nvPr/>
        </p:nvSpPr>
        <p:spPr>
          <a:xfrm>
            <a:off x="5897880" y="3246120"/>
            <a:ext cx="2743200" cy="320040"/>
          </a:xfrm>
          <a:prstGeom prst="rect">
            <a:avLst/>
          </a:prstGeom>
          <a:noFill/>
          <a:ln/>
        </p:spPr>
        <p:txBody>
          <a:bodyPr wrap="square" lIns="0" tIns="0" rIns="0" bIns="0" rtlCol="0" anchor="t"/>
          <a:lstStyle/>
          <a:p>
            <a:pPr indent="0" marL="0">
              <a:buNone/>
            </a:pPr>
            <a:r>
              <a:rPr lang="en-US" sz="1400" b="1" dirty="0">
                <a:solidFill>
                  <a:schemeClr val="tx2"/>
                </a:solidFill>
              </a:rPr>
              <a:t>Spearman(age, value) = -0.03</a:t>
            </a:r>
            <a:endParaRPr lang="en-US" sz="1400" dirty="0"/>
          </a:p>
        </p:txBody>
      </p:sp>
      <p:sp>
        <p:nvSpPr>
          <p:cNvPr id="8" name="Text 3"/>
          <p:cNvSpPr txBox="1"/>
          <p:nvPr/>
        </p:nvSpPr>
        <p:spPr>
          <a:xfrm>
            <a:off x="5897880" y="3584448"/>
            <a:ext cx="2743200" cy="822960"/>
          </a:xfrm>
          <a:prstGeom prst="rect">
            <a:avLst/>
          </a:prstGeom>
          <a:noFill/>
          <a:ln/>
        </p:spPr>
        <p:txBody>
          <a:bodyPr wrap="square" lIns="0" tIns="0" rIns="0" bIns="0" rtlCol="0" anchor="t"/>
          <a:lstStyle/>
          <a:p>
            <a:pPr indent="0" marL="0">
              <a:buNone/>
            </a:pPr>
            <a:r>
              <a:rPr lang="en-US" sz="1200" dirty="0">
                <a:solidFill>
                  <a:schemeClr val="tx1"/>
                </a:solidFill>
              </a:rPr>
              <a:t>Near zero, yet age clearly matters: value rises, peaks at 24–26, then falls. A single correlation hides the hump.</a:t>
            </a:r>
            <a:endParaRPr lang="en-US" sz="1200" dirty="0"/>
          </a:p>
        </p:txBody>
      </p:sp>
      <p:sp>
        <p:nvSpPr>
          <p:cNvPr id="9" name="Text 4"/>
          <p:cNvSpPr txBox="1"/>
          <p:nvPr/>
        </p:nvSpPr>
        <p:spPr>
          <a:xfrm>
            <a:off x="457200" y="4434840"/>
            <a:ext cx="5120640" cy="274320"/>
          </a:xfrm>
          <a:prstGeom prst="rect">
            <a:avLst/>
          </a:prstGeom>
          <a:noFill/>
          <a:ln/>
        </p:spPr>
        <p:txBody>
          <a:bodyPr wrap="square" lIns="0" tIns="0" rIns="0" bIns="0" rtlCol="0" anchor="t"/>
          <a:lstStyle/>
          <a:p>
            <a:pPr indent="0" marL="0">
              <a:buNone/>
            </a:pPr>
            <a:r>
              <a:rPr lang="en-US" sz="1000" dirty="0">
                <a:solidFill>
                  <a:schemeClr val="accent2"/>
                </a:solidFill>
              </a:rPr>
              <a:t>Median by age, one line per position; value axis is log-scaled (each step ×10).</a:t>
            </a:r>
            <a:endParaRPr lang="en-US" sz="10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CA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The same statistic means different things by position</a:t>
            </a:r>
            <a:endParaRPr lang="en-US" sz="2400" dirty="0"/>
          </a:p>
        </p:txBody>
      </p:sp>
      <p:pic>
        <p:nvPicPr>
          <p:cNvPr id="4" name="attack_goals.png" descr="/Users/niloysaha/IdeaProjects/DATA400-football-player-market-value-analysis/presentation/figures/attack_goals.png">    </p:cNvPr>
          <p:cNvPicPr>
            <a:picLocks noChangeAspect="1"/>
          </p:cNvPicPr>
          <p:nvPr/>
        </p:nvPicPr>
        <p:blipFill>
          <a:blip r:embed="rId1"/>
          <a:stretch>
            <a:fillRect/>
          </a:stretch>
        </p:blipFill>
        <p:spPr>
          <a:xfrm>
            <a:off x="365760" y="960120"/>
            <a:ext cx="4343400" cy="3364992"/>
          </a:xfrm>
          <a:prstGeom prst="rect">
            <a:avLst/>
          </a:prstGeom>
        </p:spPr>
      </p:pic>
      <p:graphicFrame>
        <p:nvGraphicFramePr>
          <p:cNvPr id="5" name="g90-chart" descr=""/>
          <p:cNvGraphicFramePr/>
          <p:nvPr/>
        </p:nvGraphicFramePr>
        <p:xfrm>
          <a:off x="5029200" y="960120"/>
          <a:ext cx="3657600" cy="2103120"/>
        </p:xfrm>
        <a:graphic xmlns:a="http://schemas.openxmlformats.org/drawingml/2006/main">
          <a:graphicData uri="http://schemas.openxmlformats.org/drawingml/2006/chart">
            <c:chart xmlns:c="http://schemas.openxmlformats.org/drawingml/2006/chart" r:id="rId2"/>
          </a:graphicData>
        </a:graphic>
      </p:graphicFrame>
      <p:sp>
        <p:nvSpPr>
          <p:cNvPr id="6" name="pos-card"/>
          <p:cNvSpPr/>
          <p:nvPr/>
        </p:nvSpPr>
        <p:spPr>
          <a:xfrm>
            <a:off x="5074920" y="3200400"/>
            <a:ext cx="3611880" cy="1234440"/>
          </a:xfrm>
          <a:prstGeom prst="roundRect">
            <a:avLst>
              <a:gd name="adj" fmla="val 5926"/>
            </a:avLst>
          </a:prstGeom>
          <a:solidFill>
            <a:schemeClr val="bg2"/>
          </a:solidFill>
          <a:ln w="12700">
            <a:solidFill>
              <a:schemeClr val="bg2"/>
            </a:solidFill>
            <a:prstDash val="solid"/>
          </a:ln>
        </p:spPr>
      </p:sp>
      <p:sp>
        <p:nvSpPr>
          <p:cNvPr id="7" name="Text 2"/>
          <p:cNvSpPr txBox="1"/>
          <p:nvPr/>
        </p:nvSpPr>
        <p:spPr>
          <a:xfrm>
            <a:off x="5230368" y="3291840"/>
            <a:ext cx="3337560" cy="1097280"/>
          </a:xfrm>
          <a:prstGeom prst="rect">
            <a:avLst/>
          </a:prstGeom>
          <a:noFill/>
          <a:ln/>
        </p:spPr>
        <p:txBody>
          <a:bodyPr wrap="square" lIns="0" tIns="0" rIns="0" bIns="0" rtlCol="0" anchor="t"/>
          <a:lstStyle/>
          <a:p>
            <a:pPr indent="0" marL="0">
              <a:buNone/>
            </a:pPr>
            <a:r>
              <a:rPr lang="en-US" sz="1200" dirty="0">
                <a:solidFill>
                  <a:schemeClr val="tx1"/>
                </a:solidFill>
              </a:rPr>
              <a:t>Goals track value most for attackers. That does not make goals a measure of defender quality: the data has no tackles, saves or other defensive statistics.</a:t>
            </a:r>
            <a:endParaRPr lang="en-US" sz="1200" dirty="0"/>
          </a:p>
        </p:txBody>
      </p:sp>
      <p:sp>
        <p:nvSpPr>
          <p:cNvPr id="8" name="Text 3"/>
          <p:cNvSpPr txBox="1"/>
          <p:nvPr/>
        </p:nvSpPr>
        <p:spPr>
          <a:xfrm>
            <a:off x="457200" y="4434840"/>
            <a:ext cx="4297680" cy="274320"/>
          </a:xfrm>
          <a:prstGeom prst="rect">
            <a:avLst/>
          </a:prstGeom>
          <a:noFill/>
          <a:ln/>
        </p:spPr>
        <p:txBody>
          <a:bodyPr wrap="square" lIns="0" tIns="0" rIns="0" bIns="0" rtlCol="0" anchor="t"/>
          <a:lstStyle/>
          <a:p>
            <a:pPr indent="0" marL="0">
              <a:buNone/>
            </a:pPr>
            <a:r>
              <a:rPr lang="en-US" sz="1000" dirty="0">
                <a:solidFill>
                  <a:schemeClr val="accent2"/>
                </a:solidFill>
              </a:rPr>
              <a:t>Dots: random sample of 2,500 attacker-seasons. Median line and correlation use all 6,095 eligible attackers.</a:t>
            </a:r>
            <a:endParaRPr lang="en-US" sz="10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CA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League context shows the largest group differences</a:t>
            </a:r>
            <a:endParaRPr lang="en-US" sz="2400" dirty="0"/>
          </a:p>
        </p:txBody>
      </p:sp>
      <p:pic>
        <p:nvPicPr>
          <p:cNvPr id="4" name="league.png" descr="/Users/niloysaha/IdeaProjects/DATA400-football-player-market-value-analysis/presentation/figures/league.png">    </p:cNvPr>
          <p:cNvPicPr>
            <a:picLocks noChangeAspect="1"/>
          </p:cNvPicPr>
          <p:nvPr/>
        </p:nvPicPr>
        <p:blipFill>
          <a:blip r:embed="rId1"/>
          <a:stretch>
            <a:fillRect/>
          </a:stretch>
        </p:blipFill>
        <p:spPr>
          <a:xfrm>
            <a:off x="365760" y="914400"/>
            <a:ext cx="4572000" cy="3758184"/>
          </a:xfrm>
          <a:prstGeom prst="rect">
            <a:avLst/>
          </a:prstGeom>
        </p:spPr>
      </p:pic>
      <p:sp>
        <p:nvSpPr>
          <p:cNvPr id="5" name="Text 1"/>
          <p:cNvSpPr txBox="1"/>
          <p:nvPr/>
        </p:nvSpPr>
        <p:spPr>
          <a:xfrm>
            <a:off x="5303520" y="1051560"/>
            <a:ext cx="3291840" cy="50292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€13M</a:t>
            </a:r>
            <a:endParaRPr lang="en-US" sz="3000" dirty="0"/>
          </a:p>
        </p:txBody>
      </p:sp>
      <p:sp>
        <p:nvSpPr>
          <p:cNvPr id="6" name="Text 2"/>
          <p:cNvSpPr txBox="1"/>
          <p:nvPr/>
        </p:nvSpPr>
        <p:spPr>
          <a:xfrm>
            <a:off x="5303520" y="1581912"/>
            <a:ext cx="3291840" cy="411480"/>
          </a:xfrm>
          <a:prstGeom prst="rect">
            <a:avLst/>
          </a:prstGeom>
          <a:noFill/>
          <a:ln/>
        </p:spPr>
        <p:txBody>
          <a:bodyPr wrap="square" lIns="0" tIns="0" rIns="0" bIns="0" rtlCol="0" anchor="t"/>
          <a:lstStyle/>
          <a:p>
            <a:pPr indent="0" marL="0">
              <a:buNone/>
            </a:pPr>
            <a:r>
              <a:rPr lang="en-US" sz="1200" dirty="0">
                <a:solidFill>
                  <a:schemeClr val="tx1"/>
                </a:solidFill>
              </a:rPr>
              <a:t>Premier League median value</a:t>
            </a:r>
            <a:endParaRPr lang="en-US" sz="1200" dirty="0"/>
          </a:p>
        </p:txBody>
      </p:sp>
      <p:sp>
        <p:nvSpPr>
          <p:cNvPr id="7" name="Text 3"/>
          <p:cNvSpPr txBox="1"/>
          <p:nvPr/>
        </p:nvSpPr>
        <p:spPr>
          <a:xfrm>
            <a:off x="5303520" y="1965960"/>
            <a:ext cx="3291840" cy="50292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€4.5M vs €600K</a:t>
            </a:r>
            <a:endParaRPr lang="en-US" sz="3000" dirty="0"/>
          </a:p>
        </p:txBody>
      </p:sp>
      <p:sp>
        <p:nvSpPr>
          <p:cNvPr id="8" name="Text 4"/>
          <p:cNvSpPr txBox="1"/>
          <p:nvPr/>
        </p:nvSpPr>
        <p:spPr>
          <a:xfrm>
            <a:off x="5303520" y="2496312"/>
            <a:ext cx="3291840" cy="411480"/>
          </a:xfrm>
          <a:prstGeom prst="rect">
            <a:avLst/>
          </a:prstGeom>
          <a:noFill/>
          <a:ln/>
        </p:spPr>
        <p:txBody>
          <a:bodyPr wrap="square" lIns="0" tIns="0" rIns="0" bIns="0" rtlCol="0" anchor="t"/>
          <a:lstStyle/>
          <a:p>
            <a:pPr indent="0" marL="0">
              <a:buNone/>
            </a:pPr>
            <a:r>
              <a:rPr lang="en-US" sz="1200" dirty="0">
                <a:solidFill>
                  <a:schemeClr val="tx1"/>
                </a:solidFill>
              </a:rPr>
              <a:t>top-five leagues vs the other nine (pooled medians)</a:t>
            </a:r>
            <a:endParaRPr lang="en-US" sz="1200" dirty="0"/>
          </a:p>
        </p:txBody>
      </p:sp>
      <p:sp>
        <p:nvSpPr>
          <p:cNvPr id="9" name="context-card"/>
          <p:cNvSpPr/>
          <p:nvPr/>
        </p:nvSpPr>
        <p:spPr>
          <a:xfrm>
            <a:off x="5303520" y="3017520"/>
            <a:ext cx="3383280" cy="1417320"/>
          </a:xfrm>
          <a:prstGeom prst="roundRect">
            <a:avLst>
              <a:gd name="adj" fmla="val 5161"/>
            </a:avLst>
          </a:prstGeom>
          <a:solidFill>
            <a:schemeClr val="bg2"/>
          </a:solidFill>
          <a:ln w="12700">
            <a:solidFill>
              <a:schemeClr val="bg2"/>
            </a:solidFill>
            <a:prstDash val="solid"/>
          </a:ln>
        </p:spPr>
      </p:sp>
      <p:sp>
        <p:nvSpPr>
          <p:cNvPr id="10" name="Text 6"/>
          <p:cNvSpPr txBox="1"/>
          <p:nvPr/>
        </p:nvSpPr>
        <p:spPr>
          <a:xfrm>
            <a:off x="5458968" y="3108960"/>
            <a:ext cx="3108960" cy="320040"/>
          </a:xfrm>
          <a:prstGeom prst="rect">
            <a:avLst/>
          </a:prstGeom>
          <a:noFill/>
          <a:ln/>
        </p:spPr>
        <p:txBody>
          <a:bodyPr wrap="square" lIns="0" tIns="0" rIns="0" bIns="0" rtlCol="0" anchor="t"/>
          <a:lstStyle/>
          <a:p>
            <a:pPr indent="0" marL="0">
              <a:buNone/>
            </a:pPr>
            <a:r>
              <a:rPr lang="en-US" sz="1400" b="1" dirty="0">
                <a:solidFill>
                  <a:schemeClr val="accent6"/>
                </a:solidFill>
              </a:rPr>
              <a:t>Context, not cause</a:t>
            </a:r>
            <a:endParaRPr lang="en-US" sz="1400" dirty="0"/>
          </a:p>
        </p:txBody>
      </p:sp>
      <p:sp>
        <p:nvSpPr>
          <p:cNvPr id="11" name="Text 7"/>
          <p:cNvSpPr txBox="1"/>
          <p:nvPr/>
        </p:nvSpPr>
        <p:spPr>
          <a:xfrm>
            <a:off x="5458968" y="3429000"/>
            <a:ext cx="3108960" cy="960120"/>
          </a:xfrm>
          <a:prstGeom prst="rect">
            <a:avLst/>
          </a:prstGeom>
          <a:noFill/>
          <a:ln/>
        </p:spPr>
        <p:txBody>
          <a:bodyPr wrap="square" lIns="0" tIns="0" rIns="0" bIns="0" rtlCol="0" anchor="t"/>
          <a:lstStyle/>
          <a:p>
            <a:pPr indent="0" marL="0">
              <a:buNone/>
            </a:pPr>
            <a:r>
              <a:rPr lang="en-US" sz="1200" dirty="0">
                <a:solidFill>
                  <a:schemeClr val="tx1"/>
                </a:solidFill>
              </a:rPr>
              <a:t>Leagues differ in money, clubs, player pool and exposure. About 35% of the variation in (log) value lies between leagues, vs about 1% between positions.</a:t>
            </a:r>
            <a:endParaRPr lang="en-US" sz="12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CA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Young, high-output attackers: highest median values</a:t>
            </a:r>
            <a:endParaRPr lang="en-US" sz="2400" dirty="0"/>
          </a:p>
        </p:txBody>
      </p:sp>
      <p:pic>
        <p:nvPicPr>
          <p:cNvPr id="4" name="age_output.png" descr="/Users/niloysaha/IdeaProjects/DATA400-football-player-market-value-analysis/presentation/figures/age_output.png">    </p:cNvPr>
          <p:cNvPicPr>
            <a:picLocks noChangeAspect="1"/>
          </p:cNvPicPr>
          <p:nvPr/>
        </p:nvPicPr>
        <p:blipFill>
          <a:blip r:embed="rId1"/>
          <a:stretch>
            <a:fillRect/>
          </a:stretch>
        </p:blipFill>
        <p:spPr>
          <a:xfrm>
            <a:off x="457200" y="914400"/>
            <a:ext cx="5760720" cy="2743200"/>
          </a:xfrm>
          <a:prstGeom prst="rect">
            <a:avLst/>
          </a:prstGeom>
        </p:spPr>
      </p:pic>
      <p:sp>
        <p:nvSpPr>
          <p:cNvPr id="5" name="Text 1"/>
          <p:cNvSpPr txBox="1"/>
          <p:nvPr/>
        </p:nvSpPr>
        <p:spPr>
          <a:xfrm>
            <a:off x="6492240" y="1005840"/>
            <a:ext cx="2286000" cy="50292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€10M</a:t>
            </a:r>
            <a:endParaRPr lang="en-US" sz="3000" dirty="0"/>
          </a:p>
        </p:txBody>
      </p:sp>
      <p:sp>
        <p:nvSpPr>
          <p:cNvPr id="6" name="Text 2"/>
          <p:cNvSpPr txBox="1"/>
          <p:nvPr/>
        </p:nvSpPr>
        <p:spPr>
          <a:xfrm>
            <a:off x="6492240" y="1536192"/>
            <a:ext cx="2286000" cy="411480"/>
          </a:xfrm>
          <a:prstGeom prst="rect">
            <a:avLst/>
          </a:prstGeom>
          <a:noFill/>
          <a:ln/>
        </p:spPr>
        <p:txBody>
          <a:bodyPr wrap="square" lIns="0" tIns="0" rIns="0" bIns="0" rtlCol="0" anchor="t"/>
          <a:lstStyle/>
          <a:p>
            <a:pPr indent="0" marL="0">
              <a:buNone/>
            </a:pPr>
            <a:r>
              <a:rPr lang="en-US" sz="1200" dirty="0">
                <a:solidFill>
                  <a:schemeClr val="tx1"/>
                </a:solidFill>
              </a:rPr>
              <a:t>young, high output</a:t>
            </a:r>
            <a:endParaRPr lang="en-US" sz="1200" dirty="0"/>
          </a:p>
        </p:txBody>
      </p:sp>
      <p:sp>
        <p:nvSpPr>
          <p:cNvPr id="7" name="Text 3"/>
          <p:cNvSpPr txBox="1"/>
          <p:nvPr/>
        </p:nvSpPr>
        <p:spPr>
          <a:xfrm>
            <a:off x="6492240" y="1874520"/>
            <a:ext cx="2286000" cy="50292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€8M</a:t>
            </a:r>
            <a:endParaRPr lang="en-US" sz="3000" dirty="0"/>
          </a:p>
        </p:txBody>
      </p:sp>
      <p:sp>
        <p:nvSpPr>
          <p:cNvPr id="8" name="Text 4"/>
          <p:cNvSpPr txBox="1"/>
          <p:nvPr/>
        </p:nvSpPr>
        <p:spPr>
          <a:xfrm>
            <a:off x="6492240" y="2404872"/>
            <a:ext cx="2286000" cy="411480"/>
          </a:xfrm>
          <a:prstGeom prst="rect">
            <a:avLst/>
          </a:prstGeom>
          <a:noFill/>
          <a:ln/>
        </p:spPr>
        <p:txBody>
          <a:bodyPr wrap="square" lIns="0" tIns="0" rIns="0" bIns="0" rtlCol="0" anchor="t"/>
          <a:lstStyle/>
          <a:p>
            <a:pPr indent="0" marL="0">
              <a:buNone/>
            </a:pPr>
            <a:r>
              <a:rPr lang="en-US" sz="1200" dirty="0">
                <a:solidFill>
                  <a:schemeClr val="tx1"/>
                </a:solidFill>
              </a:rPr>
              <a:t>prime age, high output</a:t>
            </a:r>
            <a:endParaRPr lang="en-US" sz="1200" dirty="0"/>
          </a:p>
        </p:txBody>
      </p:sp>
      <p:sp>
        <p:nvSpPr>
          <p:cNvPr id="9" name="Text 5"/>
          <p:cNvSpPr txBox="1"/>
          <p:nvPr/>
        </p:nvSpPr>
        <p:spPr>
          <a:xfrm>
            <a:off x="6492240" y="2743200"/>
            <a:ext cx="2286000" cy="50292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€3.5M</a:t>
            </a:r>
            <a:endParaRPr lang="en-US" sz="3000" dirty="0"/>
          </a:p>
        </p:txBody>
      </p:sp>
      <p:sp>
        <p:nvSpPr>
          <p:cNvPr id="10" name="Text 6"/>
          <p:cNvSpPr txBox="1"/>
          <p:nvPr/>
        </p:nvSpPr>
        <p:spPr>
          <a:xfrm>
            <a:off x="6492240" y="3273552"/>
            <a:ext cx="2286000" cy="411480"/>
          </a:xfrm>
          <a:prstGeom prst="rect">
            <a:avLst/>
          </a:prstGeom>
          <a:noFill/>
          <a:ln/>
        </p:spPr>
        <p:txBody>
          <a:bodyPr wrap="square" lIns="0" tIns="0" rIns="0" bIns="0" rtlCol="0" anchor="t"/>
          <a:lstStyle/>
          <a:p>
            <a:pPr indent="0" marL="0">
              <a:buNone/>
            </a:pPr>
            <a:r>
              <a:rPr lang="en-US" sz="1200" dirty="0">
                <a:solidFill>
                  <a:schemeClr val="tx1"/>
                </a:solidFill>
              </a:rPr>
              <a:t>experienced, high output</a:t>
            </a:r>
            <a:endParaRPr lang="en-US" sz="1200" dirty="0"/>
          </a:p>
        </p:txBody>
      </p:sp>
      <p:sp>
        <p:nvSpPr>
          <p:cNvPr id="11" name="ao-card"/>
          <p:cNvSpPr/>
          <p:nvPr/>
        </p:nvSpPr>
        <p:spPr>
          <a:xfrm>
            <a:off x="457200" y="3794760"/>
            <a:ext cx="8229600" cy="868680"/>
          </a:xfrm>
          <a:prstGeom prst="roundRect">
            <a:avLst>
              <a:gd name="adj" fmla="val 8421"/>
            </a:avLst>
          </a:prstGeom>
          <a:solidFill>
            <a:schemeClr val="bg2"/>
          </a:solidFill>
          <a:ln w="12700">
            <a:solidFill>
              <a:schemeClr val="bg2"/>
            </a:solidFill>
            <a:prstDash val="solid"/>
          </a:ln>
        </p:spPr>
      </p:sp>
      <p:sp>
        <p:nvSpPr>
          <p:cNvPr id="12" name="Text 8"/>
          <p:cNvSpPr txBox="1"/>
          <p:nvPr/>
        </p:nvSpPr>
        <p:spPr>
          <a:xfrm>
            <a:off x="640080" y="3858768"/>
            <a:ext cx="7863840" cy="749808"/>
          </a:xfrm>
          <a:prstGeom prst="rect">
            <a:avLst/>
          </a:prstGeom>
          <a:noFill/>
          <a:ln/>
        </p:spPr>
        <p:txBody>
          <a:bodyPr wrap="square" lIns="0" tIns="0" rIns="0" bIns="0" rtlCol="0" anchor="t"/>
          <a:lstStyle/>
          <a:p>
            <a:pPr indent="0" marL="0">
              <a:buNone/>
            </a:pPr>
            <a:r>
              <a:rPr lang="en-US" sz="1200" dirty="0">
                <a:solidFill>
                  <a:schemeClr val="tx1"/>
                </a:solidFill>
              </a:rPr>
              <a:t>Attackers with ≥450 minutes; high output = top quarter of goals + assists per 90 (≥ 0.59). Same ordering inside the top-five leagues (€31M vs €25M) and outside them (€5M vs €4.5M). Descriptive only: potential, contracts and club level are not in the data.</a:t>
            </a:r>
            <a:endParaRPr lang="en-US" sz="12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CA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Do attackers form distinct player types?</a:t>
            </a:r>
            <a:endParaRPr lang="en-US" sz="2400" dirty="0"/>
          </a:p>
        </p:txBody>
      </p:sp>
      <p:sp>
        <p:nvSpPr>
          <p:cNvPr id="4" name="Text 1"/>
          <p:cNvSpPr txBox="1"/>
          <p:nvPr/>
        </p:nvSpPr>
        <p:spPr>
          <a:xfrm>
            <a:off x="457200" y="1005840"/>
            <a:ext cx="3108960" cy="2011680"/>
          </a:xfrm>
          <a:prstGeom prst="rect">
            <a:avLst/>
          </a:prstGeom>
          <a:noFill/>
          <a:ln/>
        </p:spPr>
        <p:txBody>
          <a:bodyPr wrap="square" lIns="0" tIns="0" rIns="0" bIns="0" rtlCol="0" anchor="t"/>
          <a:lstStyle/>
          <a:p>
            <a:pPr indent="0" marL="0">
              <a:spcAft>
                <a:spcPts val="500"/>
              </a:spcAft>
              <a:buNone/>
            </a:pPr>
            <a:r>
              <a:rPr lang="en-US" sz="1300" b="1" dirty="0">
                <a:solidFill>
                  <a:schemeClr val="tx1"/>
                </a:solidFill>
              </a:rPr>
              <a:t>K-means groups players with similar numbers.</a:t>
            </a:r>
            <a:endParaRPr lang="en-US" sz="1300" dirty="0"/>
          </a:p>
          <a:p>
            <a:pPr marL="342900" indent="-342900">
              <a:spcAft>
                <a:spcPts val="500"/>
              </a:spcAft>
              <a:buSzPct val="100000"/>
              <a:buChar char="•"/>
            </a:pPr>
            <a:r>
              <a:rPr lang="en-US" sz="1300" dirty="0">
                <a:solidFill>
                  <a:schemeClr val="tx1"/>
                </a:solidFill>
              </a:rPr>
              <a:t>6,095 attacker-seasons (≥450 min)</a:t>
            </a:r>
            <a:endParaRPr lang="en-US" sz="1300" dirty="0"/>
          </a:p>
          <a:p>
            <a:pPr marL="342900" indent="-342900">
              <a:spcAft>
                <a:spcPts val="500"/>
              </a:spcAft>
              <a:buSzPct val="100000"/>
              <a:buChar char="•"/>
            </a:pPr>
            <a:r>
              <a:rPr lang="en-US" sz="1300" dirty="0">
                <a:solidFill>
                  <a:schemeClr val="tx1"/>
                </a:solidFill>
              </a:rPr>
              <a:t>Inputs (standardised): age, minutes, goals/90, assists/90</a:t>
            </a:r>
            <a:endParaRPr lang="en-US" sz="1300" dirty="0"/>
          </a:p>
          <a:p>
            <a:pPr marL="342900" indent="-342900">
              <a:spcAft>
                <a:spcPts val="500"/>
              </a:spcAft>
              <a:buSzPct val="100000"/>
              <a:buChar char="•"/>
            </a:pPr>
            <a:r>
              <a:rPr lang="en-US" sz="1300" dirty="0">
                <a:solidFill>
                  <a:schemeClr val="tx1"/>
                </a:solidFill>
              </a:rPr>
              <a:t>Not used: market value, league</a:t>
            </a:r>
            <a:endParaRPr lang="en-US" sz="1300" dirty="0"/>
          </a:p>
          <a:p>
            <a:pPr marL="342900" indent="-342900">
              <a:spcAft>
                <a:spcPts val="500"/>
              </a:spcAft>
              <a:buSzPct val="100000"/>
              <a:buChar char="•"/>
            </a:pPr>
            <a:r>
              <a:rPr lang="en-US" sz="1300" dirty="0">
                <a:solidFill>
                  <a:schemeClr val="tx1"/>
                </a:solidFill>
              </a:rPr>
              <a:t>k = 2 to 6 tested; k = 4 kept for readability</a:t>
            </a:r>
            <a:endParaRPr lang="en-US" sz="1300" dirty="0"/>
          </a:p>
        </p:txBody>
      </p:sp>
      <p:sp>
        <p:nvSpPr>
          <p:cNvPr id="5" name="sil-card"/>
          <p:cNvSpPr/>
          <p:nvPr/>
        </p:nvSpPr>
        <p:spPr>
          <a:xfrm>
            <a:off x="457200" y="3108960"/>
            <a:ext cx="3108960" cy="1371600"/>
          </a:xfrm>
          <a:prstGeom prst="roundRect">
            <a:avLst>
              <a:gd name="adj" fmla="val 5333"/>
            </a:avLst>
          </a:prstGeom>
          <a:solidFill>
            <a:schemeClr val="tx2"/>
          </a:solidFill>
          <a:ln w="12700">
            <a:solidFill>
              <a:schemeClr val="tx2"/>
            </a:solidFill>
            <a:prstDash val="solid"/>
          </a:ln>
        </p:spPr>
      </p:sp>
      <p:sp>
        <p:nvSpPr>
          <p:cNvPr id="6" name="Text 3"/>
          <p:cNvSpPr txBox="1"/>
          <p:nvPr/>
        </p:nvSpPr>
        <p:spPr>
          <a:xfrm>
            <a:off x="640080" y="3200400"/>
            <a:ext cx="2743200" cy="50292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0.21–0.22</a:t>
            </a:r>
            <a:endParaRPr lang="en-US" sz="3000" dirty="0"/>
          </a:p>
        </p:txBody>
      </p:sp>
      <p:sp>
        <p:nvSpPr>
          <p:cNvPr id="7" name="Text 4"/>
          <p:cNvSpPr txBox="1"/>
          <p:nvPr/>
        </p:nvSpPr>
        <p:spPr>
          <a:xfrm>
            <a:off x="640080" y="3730752"/>
            <a:ext cx="2743200" cy="713232"/>
          </a:xfrm>
          <a:prstGeom prst="rect">
            <a:avLst/>
          </a:prstGeom>
          <a:noFill/>
          <a:ln/>
        </p:spPr>
        <p:txBody>
          <a:bodyPr wrap="square" lIns="0" tIns="0" rIns="0" bIns="0" rtlCol="0" anchor="t"/>
          <a:lstStyle/>
          <a:p>
            <a:pPr indent="0" marL="0">
              <a:buNone/>
            </a:pPr>
            <a:r>
              <a:rPr lang="en-US" sz="1200" dirty="0">
                <a:solidFill>
                  <a:srgbClr val="CADCFC"/>
                </a:solidFill>
              </a:rPr>
              <a:t>silhouette at every k, no sharp elbow: weak separation. Four interpretable but overlapping profiles.</a:t>
            </a:r>
            <a:endParaRPr lang="en-US" sz="1200" dirty="0"/>
          </a:p>
        </p:txBody>
      </p:sp>
      <p:pic>
        <p:nvPicPr>
          <p:cNvPr id="8" name="kmeans_profiles.png" descr="/Users/niloysaha/IdeaProjects/DATA400-football-player-market-value-analysis/presentation/figures/kmeans_profiles.png">    </p:cNvPr>
          <p:cNvPicPr>
            <a:picLocks noChangeAspect="1"/>
          </p:cNvPicPr>
          <p:nvPr/>
        </p:nvPicPr>
        <p:blipFill>
          <a:blip r:embed="rId1"/>
          <a:stretch>
            <a:fillRect/>
          </a:stretch>
        </p:blipFill>
        <p:spPr>
          <a:xfrm>
            <a:off x="3794760" y="960120"/>
            <a:ext cx="4937760" cy="2395728"/>
          </a:xfrm>
          <a:prstGeom prst="rect">
            <a:avLst/>
          </a:prstGeom>
        </p:spPr>
      </p:pic>
      <p:sp>
        <p:nvSpPr>
          <p:cNvPr id="9" name="cl0"/>
          <p:cNvSpPr/>
          <p:nvPr/>
        </p:nvSpPr>
        <p:spPr>
          <a:xfrm>
            <a:off x="3840480" y="3520440"/>
            <a:ext cx="1133856" cy="960120"/>
          </a:xfrm>
          <a:prstGeom prst="roundRect">
            <a:avLst>
              <a:gd name="adj" fmla="val 7619"/>
            </a:avLst>
          </a:prstGeom>
          <a:solidFill>
            <a:schemeClr val="bg2"/>
          </a:solidFill>
          <a:ln w="12700">
            <a:solidFill>
              <a:schemeClr val="bg2"/>
            </a:solidFill>
            <a:prstDash val="solid"/>
          </a:ln>
        </p:spPr>
      </p:sp>
      <p:sp>
        <p:nvSpPr>
          <p:cNvPr id="10" name="Text 6"/>
          <p:cNvSpPr txBox="1"/>
          <p:nvPr/>
        </p:nvSpPr>
        <p:spPr>
          <a:xfrm>
            <a:off x="3840480" y="3584448"/>
            <a:ext cx="1133856" cy="36576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€8M</a:t>
            </a:r>
            <a:endParaRPr lang="en-US" sz="1800" dirty="0"/>
          </a:p>
        </p:txBody>
      </p:sp>
      <p:sp>
        <p:nvSpPr>
          <p:cNvPr id="11" name="Text 7"/>
          <p:cNvSpPr txBox="1"/>
          <p:nvPr/>
        </p:nvSpPr>
        <p:spPr>
          <a:xfrm>
            <a:off x="3886200" y="3950208"/>
            <a:ext cx="1042416" cy="502920"/>
          </a:xfrm>
          <a:prstGeom prst="rect">
            <a:avLst/>
          </a:prstGeom>
          <a:noFill/>
          <a:ln/>
        </p:spPr>
        <p:txBody>
          <a:bodyPr wrap="square" lIns="0" tIns="0" rIns="0" bIns="0" rtlCol="0" anchor="t"/>
          <a:lstStyle/>
          <a:p>
            <a:pPr algn="ctr" indent="0" marL="0">
              <a:buNone/>
            </a:pPr>
            <a:r>
              <a:rPr lang="en-US" sz="1000" dirty="0">
                <a:solidFill>
                  <a:schemeClr val="tx1"/>
                </a:solidFill>
              </a:rPr>
              <a:t>Regular high-minute starters</a:t>
            </a:r>
            <a:endParaRPr lang="en-US" sz="1000" dirty="0"/>
          </a:p>
        </p:txBody>
      </p:sp>
      <p:sp>
        <p:nvSpPr>
          <p:cNvPr id="12" name="cl1"/>
          <p:cNvSpPr/>
          <p:nvPr/>
        </p:nvSpPr>
        <p:spPr>
          <a:xfrm>
            <a:off x="5065776" y="3520440"/>
            <a:ext cx="1133856" cy="960120"/>
          </a:xfrm>
          <a:prstGeom prst="roundRect">
            <a:avLst>
              <a:gd name="adj" fmla="val 7619"/>
            </a:avLst>
          </a:prstGeom>
          <a:solidFill>
            <a:schemeClr val="bg2"/>
          </a:solidFill>
          <a:ln w="12700">
            <a:solidFill>
              <a:schemeClr val="bg2"/>
            </a:solidFill>
            <a:prstDash val="solid"/>
          </a:ln>
        </p:spPr>
      </p:sp>
      <p:sp>
        <p:nvSpPr>
          <p:cNvPr id="13" name="Text 9"/>
          <p:cNvSpPr txBox="1"/>
          <p:nvPr/>
        </p:nvSpPr>
        <p:spPr>
          <a:xfrm>
            <a:off x="5065776" y="3584448"/>
            <a:ext cx="1133856" cy="36576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€5M</a:t>
            </a:r>
            <a:endParaRPr lang="en-US" sz="1800" dirty="0"/>
          </a:p>
        </p:txBody>
      </p:sp>
      <p:sp>
        <p:nvSpPr>
          <p:cNvPr id="14" name="Text 10"/>
          <p:cNvSpPr txBox="1"/>
          <p:nvPr/>
        </p:nvSpPr>
        <p:spPr>
          <a:xfrm>
            <a:off x="5111496" y="3950208"/>
            <a:ext cx="1042416" cy="502920"/>
          </a:xfrm>
          <a:prstGeom prst="rect">
            <a:avLst/>
          </a:prstGeom>
          <a:noFill/>
          <a:ln/>
        </p:spPr>
        <p:txBody>
          <a:bodyPr wrap="square" lIns="0" tIns="0" rIns="0" bIns="0" rtlCol="0" anchor="t"/>
          <a:lstStyle/>
          <a:p>
            <a:pPr algn="ctr" indent="0" marL="0">
              <a:buNone/>
            </a:pPr>
            <a:r>
              <a:rPr lang="en-US" sz="1000" dirty="0">
                <a:solidFill>
                  <a:schemeClr val="tx1"/>
                </a:solidFill>
              </a:rPr>
              <a:t>Creative attackers</a:t>
            </a:r>
            <a:endParaRPr lang="en-US" sz="1000" dirty="0"/>
          </a:p>
        </p:txBody>
      </p:sp>
      <p:sp>
        <p:nvSpPr>
          <p:cNvPr id="15" name="cl2"/>
          <p:cNvSpPr/>
          <p:nvPr/>
        </p:nvSpPr>
        <p:spPr>
          <a:xfrm>
            <a:off x="6291072" y="3520440"/>
            <a:ext cx="1133856" cy="960120"/>
          </a:xfrm>
          <a:prstGeom prst="roundRect">
            <a:avLst>
              <a:gd name="adj" fmla="val 7619"/>
            </a:avLst>
          </a:prstGeom>
          <a:solidFill>
            <a:schemeClr val="bg2"/>
          </a:solidFill>
          <a:ln w="12700">
            <a:solidFill>
              <a:schemeClr val="bg2"/>
            </a:solidFill>
            <a:prstDash val="solid"/>
          </a:ln>
        </p:spPr>
      </p:sp>
      <p:sp>
        <p:nvSpPr>
          <p:cNvPr id="16" name="Text 12"/>
          <p:cNvSpPr txBox="1"/>
          <p:nvPr/>
        </p:nvSpPr>
        <p:spPr>
          <a:xfrm>
            <a:off x="6291072" y="3584448"/>
            <a:ext cx="1133856" cy="36576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€1.5M</a:t>
            </a:r>
            <a:endParaRPr lang="en-US" sz="1800" dirty="0"/>
          </a:p>
        </p:txBody>
      </p:sp>
      <p:sp>
        <p:nvSpPr>
          <p:cNvPr id="17" name="Text 13"/>
          <p:cNvSpPr txBox="1"/>
          <p:nvPr/>
        </p:nvSpPr>
        <p:spPr>
          <a:xfrm>
            <a:off x="6336792" y="3950208"/>
            <a:ext cx="1042416" cy="502920"/>
          </a:xfrm>
          <a:prstGeom prst="rect">
            <a:avLst/>
          </a:prstGeom>
          <a:noFill/>
          <a:ln/>
        </p:spPr>
        <p:txBody>
          <a:bodyPr wrap="square" lIns="0" tIns="0" rIns="0" bIns="0" rtlCol="0" anchor="t"/>
          <a:lstStyle/>
          <a:p>
            <a:pPr algn="ctr" indent="0" marL="0">
              <a:buNone/>
            </a:pPr>
            <a:r>
              <a:rPr lang="en-US" sz="1000" dirty="0">
                <a:solidFill>
                  <a:schemeClr val="tx1"/>
                </a:solidFill>
              </a:rPr>
              <a:t>Younger, lower output</a:t>
            </a:r>
            <a:endParaRPr lang="en-US" sz="1000" dirty="0"/>
          </a:p>
        </p:txBody>
      </p:sp>
      <p:sp>
        <p:nvSpPr>
          <p:cNvPr id="18" name="cl3"/>
          <p:cNvSpPr/>
          <p:nvPr/>
        </p:nvSpPr>
        <p:spPr>
          <a:xfrm>
            <a:off x="7516368" y="3520440"/>
            <a:ext cx="1133856" cy="960120"/>
          </a:xfrm>
          <a:prstGeom prst="roundRect">
            <a:avLst>
              <a:gd name="adj" fmla="val 7619"/>
            </a:avLst>
          </a:prstGeom>
          <a:solidFill>
            <a:schemeClr val="bg2"/>
          </a:solidFill>
          <a:ln w="12700">
            <a:solidFill>
              <a:schemeClr val="bg2"/>
            </a:solidFill>
            <a:prstDash val="solid"/>
          </a:ln>
        </p:spPr>
      </p:sp>
      <p:sp>
        <p:nvSpPr>
          <p:cNvPr id="19" name="Text 15"/>
          <p:cNvSpPr txBox="1"/>
          <p:nvPr/>
        </p:nvSpPr>
        <p:spPr>
          <a:xfrm>
            <a:off x="7516368" y="3584448"/>
            <a:ext cx="1133856" cy="36576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€1M</a:t>
            </a:r>
            <a:endParaRPr lang="en-US" sz="1800" dirty="0"/>
          </a:p>
        </p:txBody>
      </p:sp>
      <p:sp>
        <p:nvSpPr>
          <p:cNvPr id="20" name="Text 16"/>
          <p:cNvSpPr txBox="1"/>
          <p:nvPr/>
        </p:nvSpPr>
        <p:spPr>
          <a:xfrm>
            <a:off x="7562088" y="3950208"/>
            <a:ext cx="1042416" cy="502920"/>
          </a:xfrm>
          <a:prstGeom prst="rect">
            <a:avLst/>
          </a:prstGeom>
          <a:noFill/>
          <a:ln/>
        </p:spPr>
        <p:txBody>
          <a:bodyPr wrap="square" lIns="0" tIns="0" rIns="0" bIns="0" rtlCol="0" anchor="t"/>
          <a:lstStyle/>
          <a:p>
            <a:pPr algn="ctr" indent="0" marL="0">
              <a:buNone/>
            </a:pPr>
            <a:r>
              <a:rPr lang="en-US" sz="1000" dirty="0">
                <a:solidFill>
                  <a:schemeClr val="tx1"/>
                </a:solidFill>
              </a:rPr>
              <a:t>Older, fewer minutes</a:t>
            </a:r>
            <a:endParaRPr lang="en-US" sz="10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CA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What the analysis shows</a:t>
            </a:r>
            <a:endParaRPr lang="en-US" sz="2400" dirty="0"/>
          </a:p>
        </p:txBody>
      </p:sp>
      <p:sp>
        <p:nvSpPr>
          <p:cNvPr id="4" name="finding0"/>
          <p:cNvSpPr/>
          <p:nvPr/>
        </p:nvSpPr>
        <p:spPr>
          <a:xfrm>
            <a:off x="457200" y="1097280"/>
            <a:ext cx="2606040" cy="1600200"/>
          </a:xfrm>
          <a:prstGeom prst="roundRect">
            <a:avLst>
              <a:gd name="adj" fmla="val 4571"/>
            </a:avLst>
          </a:prstGeom>
          <a:solidFill>
            <a:srgbClr val="22325A"/>
          </a:solidFill>
          <a:ln w="12700">
            <a:solidFill>
              <a:srgbClr val="22325A"/>
            </a:solidFill>
            <a:prstDash val="solid"/>
          </a:ln>
        </p:spPr>
      </p:sp>
      <p:sp>
        <p:nvSpPr>
          <p:cNvPr id="5" name="Text 2"/>
          <p:cNvSpPr txBox="1"/>
          <p:nvPr/>
        </p:nvSpPr>
        <p:spPr>
          <a:xfrm>
            <a:off x="640080" y="1216152"/>
            <a:ext cx="2240280" cy="365760"/>
          </a:xfrm>
          <a:prstGeom prst="rect">
            <a:avLst/>
          </a:prstGeom>
          <a:noFill/>
          <a:ln/>
        </p:spPr>
        <p:txBody>
          <a:bodyPr wrap="square" lIns="0" tIns="0" rIns="0" bIns="0" rtlCol="0" anchor="t"/>
          <a:lstStyle/>
          <a:p>
            <a:pPr indent="0" marL="0">
              <a:buNone/>
            </a:pPr>
            <a:r>
              <a:rPr lang="en-US" sz="1700" b="1" dirty="0">
                <a:solidFill>
                  <a:srgbClr val="F4A261"/>
                </a:solidFill>
                <a:latin typeface="Cambria" pitchFamily="34" charset="0"/>
                <a:ea typeface="Cambria" pitchFamily="34" charset="-122"/>
                <a:cs typeface="Cambria" pitchFamily="34" charset="-120"/>
              </a:rPr>
              <a:t>Age</a:t>
            </a:r>
            <a:endParaRPr lang="en-US" sz="1700" dirty="0"/>
          </a:p>
        </p:txBody>
      </p:sp>
      <p:sp>
        <p:nvSpPr>
          <p:cNvPr id="6" name="Text 3"/>
          <p:cNvSpPr txBox="1"/>
          <p:nvPr/>
        </p:nvSpPr>
        <p:spPr>
          <a:xfrm>
            <a:off x="640080" y="1627632"/>
            <a:ext cx="2240280" cy="1005840"/>
          </a:xfrm>
          <a:prstGeom prst="rect">
            <a:avLst/>
          </a:prstGeom>
          <a:noFill/>
          <a:ln/>
        </p:spPr>
        <p:txBody>
          <a:bodyPr wrap="square" lIns="0" tIns="0" rIns="0" bIns="0" rtlCol="0" anchor="t"/>
          <a:lstStyle/>
          <a:p>
            <a:pPr indent="0" marL="0">
              <a:buNone/>
            </a:pPr>
            <a:r>
              <a:rPr lang="en-US" sz="1300" dirty="0">
                <a:solidFill>
                  <a:schemeClr val="bg1"/>
                </a:solidFill>
              </a:rPr>
              <a:t>Value rises into the early/mid twenties and falls after 30: a hump, not a line.</a:t>
            </a:r>
            <a:endParaRPr lang="en-US" sz="1300" dirty="0"/>
          </a:p>
        </p:txBody>
      </p:sp>
      <p:sp>
        <p:nvSpPr>
          <p:cNvPr id="7" name="finding1"/>
          <p:cNvSpPr/>
          <p:nvPr/>
        </p:nvSpPr>
        <p:spPr>
          <a:xfrm>
            <a:off x="3246120" y="1097280"/>
            <a:ext cx="2606040" cy="1600200"/>
          </a:xfrm>
          <a:prstGeom prst="roundRect">
            <a:avLst>
              <a:gd name="adj" fmla="val 4571"/>
            </a:avLst>
          </a:prstGeom>
          <a:solidFill>
            <a:srgbClr val="22325A"/>
          </a:solidFill>
          <a:ln w="12700">
            <a:solidFill>
              <a:srgbClr val="22325A"/>
            </a:solidFill>
            <a:prstDash val="solid"/>
          </a:ln>
        </p:spPr>
      </p:sp>
      <p:sp>
        <p:nvSpPr>
          <p:cNvPr id="8" name="Text 5"/>
          <p:cNvSpPr txBox="1"/>
          <p:nvPr/>
        </p:nvSpPr>
        <p:spPr>
          <a:xfrm>
            <a:off x="3429000" y="1216152"/>
            <a:ext cx="2240280" cy="365760"/>
          </a:xfrm>
          <a:prstGeom prst="rect">
            <a:avLst/>
          </a:prstGeom>
          <a:noFill/>
          <a:ln/>
        </p:spPr>
        <p:txBody>
          <a:bodyPr wrap="square" lIns="0" tIns="0" rIns="0" bIns="0" rtlCol="0" anchor="t"/>
          <a:lstStyle/>
          <a:p>
            <a:pPr indent="0" marL="0">
              <a:buNone/>
            </a:pPr>
            <a:r>
              <a:rPr lang="en-US" sz="1700" b="1" dirty="0">
                <a:solidFill>
                  <a:srgbClr val="F4A261"/>
                </a:solidFill>
                <a:latin typeface="Cambria" pitchFamily="34" charset="0"/>
                <a:ea typeface="Cambria" pitchFamily="34" charset="-122"/>
                <a:cs typeface="Cambria" pitchFamily="34" charset="-120"/>
              </a:rPr>
              <a:t>Playing time</a:t>
            </a:r>
            <a:endParaRPr lang="en-US" sz="1700" dirty="0"/>
          </a:p>
        </p:txBody>
      </p:sp>
      <p:sp>
        <p:nvSpPr>
          <p:cNvPr id="9" name="Text 6"/>
          <p:cNvSpPr txBox="1"/>
          <p:nvPr/>
        </p:nvSpPr>
        <p:spPr>
          <a:xfrm>
            <a:off x="3429000" y="1627632"/>
            <a:ext cx="2240280" cy="1005840"/>
          </a:xfrm>
          <a:prstGeom prst="rect">
            <a:avLst/>
          </a:prstGeom>
          <a:noFill/>
          <a:ln/>
        </p:spPr>
        <p:txBody>
          <a:bodyPr wrap="square" lIns="0" tIns="0" rIns="0" bIns="0" rtlCol="0" anchor="t"/>
          <a:lstStyle/>
          <a:p>
            <a:pPr indent="0" marL="0">
              <a:buNone/>
            </a:pPr>
            <a:r>
              <a:rPr lang="en-US" sz="1300" dirty="0">
                <a:solidFill>
                  <a:schemeClr val="bg1"/>
                </a:solidFill>
              </a:rPr>
              <a:t>One of the strongest simple associations (Spearman 0.51); causal direction is unclear.</a:t>
            </a:r>
            <a:endParaRPr lang="en-US" sz="1300" dirty="0"/>
          </a:p>
        </p:txBody>
      </p:sp>
      <p:sp>
        <p:nvSpPr>
          <p:cNvPr id="10" name="finding2"/>
          <p:cNvSpPr/>
          <p:nvPr/>
        </p:nvSpPr>
        <p:spPr>
          <a:xfrm>
            <a:off x="6035040" y="1097280"/>
            <a:ext cx="2606040" cy="1600200"/>
          </a:xfrm>
          <a:prstGeom prst="roundRect">
            <a:avLst>
              <a:gd name="adj" fmla="val 4571"/>
            </a:avLst>
          </a:prstGeom>
          <a:solidFill>
            <a:srgbClr val="22325A"/>
          </a:solidFill>
          <a:ln w="12700">
            <a:solidFill>
              <a:srgbClr val="22325A"/>
            </a:solidFill>
            <a:prstDash val="solid"/>
          </a:ln>
        </p:spPr>
      </p:sp>
      <p:sp>
        <p:nvSpPr>
          <p:cNvPr id="11" name="Text 8"/>
          <p:cNvSpPr txBox="1"/>
          <p:nvPr/>
        </p:nvSpPr>
        <p:spPr>
          <a:xfrm>
            <a:off x="6217920" y="1216152"/>
            <a:ext cx="2240280" cy="365760"/>
          </a:xfrm>
          <a:prstGeom prst="rect">
            <a:avLst/>
          </a:prstGeom>
          <a:noFill/>
          <a:ln/>
        </p:spPr>
        <p:txBody>
          <a:bodyPr wrap="square" lIns="0" tIns="0" rIns="0" bIns="0" rtlCol="0" anchor="t"/>
          <a:lstStyle/>
          <a:p>
            <a:pPr indent="0" marL="0">
              <a:buNone/>
            </a:pPr>
            <a:r>
              <a:rPr lang="en-US" sz="1700" b="1" dirty="0">
                <a:solidFill>
                  <a:srgbClr val="F4A261"/>
                </a:solidFill>
                <a:latin typeface="Cambria" pitchFamily="34" charset="0"/>
                <a:ea typeface="Cambria" pitchFamily="34" charset="-122"/>
                <a:cs typeface="Cambria" pitchFamily="34" charset="-120"/>
              </a:rPr>
              <a:t>Position</a:t>
            </a:r>
            <a:endParaRPr lang="en-US" sz="1700" dirty="0"/>
          </a:p>
        </p:txBody>
      </p:sp>
      <p:sp>
        <p:nvSpPr>
          <p:cNvPr id="12" name="Text 9"/>
          <p:cNvSpPr txBox="1"/>
          <p:nvPr/>
        </p:nvSpPr>
        <p:spPr>
          <a:xfrm>
            <a:off x="6217920" y="1627632"/>
            <a:ext cx="2240280" cy="1005840"/>
          </a:xfrm>
          <a:prstGeom prst="rect">
            <a:avLst/>
          </a:prstGeom>
          <a:noFill/>
          <a:ln/>
        </p:spPr>
        <p:txBody>
          <a:bodyPr wrap="square" lIns="0" tIns="0" rIns="0" bIns="0" rtlCol="0" anchor="t"/>
          <a:lstStyle/>
          <a:p>
            <a:pPr indent="0" marL="0">
              <a:buNone/>
            </a:pPr>
            <a:r>
              <a:rPr lang="en-US" sz="1300" dirty="0">
                <a:solidFill>
                  <a:schemeClr val="bg1"/>
                </a:solidFill>
              </a:rPr>
              <a:t>Performance statistics mean different things by role; goals matter most for attackers.</a:t>
            </a:r>
            <a:endParaRPr lang="en-US" sz="1300" dirty="0"/>
          </a:p>
        </p:txBody>
      </p:sp>
      <p:sp>
        <p:nvSpPr>
          <p:cNvPr id="13" name="finding3"/>
          <p:cNvSpPr/>
          <p:nvPr/>
        </p:nvSpPr>
        <p:spPr>
          <a:xfrm>
            <a:off x="457200" y="2880360"/>
            <a:ext cx="2606040" cy="1600200"/>
          </a:xfrm>
          <a:prstGeom prst="roundRect">
            <a:avLst>
              <a:gd name="adj" fmla="val 4571"/>
            </a:avLst>
          </a:prstGeom>
          <a:solidFill>
            <a:srgbClr val="22325A"/>
          </a:solidFill>
          <a:ln w="12700">
            <a:solidFill>
              <a:srgbClr val="22325A"/>
            </a:solidFill>
            <a:prstDash val="solid"/>
          </a:ln>
        </p:spPr>
      </p:sp>
      <p:sp>
        <p:nvSpPr>
          <p:cNvPr id="14" name="Text 11"/>
          <p:cNvSpPr txBox="1"/>
          <p:nvPr/>
        </p:nvSpPr>
        <p:spPr>
          <a:xfrm>
            <a:off x="640080" y="2999232"/>
            <a:ext cx="2240280" cy="365760"/>
          </a:xfrm>
          <a:prstGeom prst="rect">
            <a:avLst/>
          </a:prstGeom>
          <a:noFill/>
          <a:ln/>
        </p:spPr>
        <p:txBody>
          <a:bodyPr wrap="square" lIns="0" tIns="0" rIns="0" bIns="0" rtlCol="0" anchor="t"/>
          <a:lstStyle/>
          <a:p>
            <a:pPr indent="0" marL="0">
              <a:buNone/>
            </a:pPr>
            <a:r>
              <a:rPr lang="en-US" sz="1700" b="1" dirty="0">
                <a:solidFill>
                  <a:srgbClr val="F4A261"/>
                </a:solidFill>
                <a:latin typeface="Cambria" pitchFamily="34" charset="0"/>
                <a:ea typeface="Cambria" pitchFamily="34" charset="-122"/>
                <a:cs typeface="Cambria" pitchFamily="34" charset="-120"/>
              </a:rPr>
              <a:t>League</a:t>
            </a:r>
            <a:endParaRPr lang="en-US" sz="1700" dirty="0"/>
          </a:p>
        </p:txBody>
      </p:sp>
      <p:sp>
        <p:nvSpPr>
          <p:cNvPr id="15" name="Text 12"/>
          <p:cNvSpPr txBox="1"/>
          <p:nvPr/>
        </p:nvSpPr>
        <p:spPr>
          <a:xfrm>
            <a:off x="640080" y="3410712"/>
            <a:ext cx="2240280" cy="1005840"/>
          </a:xfrm>
          <a:prstGeom prst="rect">
            <a:avLst/>
          </a:prstGeom>
          <a:noFill/>
          <a:ln/>
        </p:spPr>
        <p:txBody>
          <a:bodyPr wrap="square" lIns="0" tIns="0" rIns="0" bIns="0" rtlCol="0" anchor="t"/>
          <a:lstStyle/>
          <a:p>
            <a:pPr indent="0" marL="0">
              <a:buNone/>
            </a:pPr>
            <a:r>
              <a:rPr lang="en-US" sz="1300" dirty="0">
                <a:solidFill>
                  <a:schemeClr val="bg1"/>
                </a:solidFill>
              </a:rPr>
              <a:t>€13M Premier League median; top-five €4.5M vs others €600K.</a:t>
            </a:r>
            <a:endParaRPr lang="en-US" sz="1300" dirty="0"/>
          </a:p>
        </p:txBody>
      </p:sp>
      <p:sp>
        <p:nvSpPr>
          <p:cNvPr id="16" name="finding4"/>
          <p:cNvSpPr/>
          <p:nvPr/>
        </p:nvSpPr>
        <p:spPr>
          <a:xfrm>
            <a:off x="3246120" y="2880360"/>
            <a:ext cx="2606040" cy="1600200"/>
          </a:xfrm>
          <a:prstGeom prst="roundRect">
            <a:avLst>
              <a:gd name="adj" fmla="val 4571"/>
            </a:avLst>
          </a:prstGeom>
          <a:solidFill>
            <a:srgbClr val="22325A"/>
          </a:solidFill>
          <a:ln w="12700">
            <a:solidFill>
              <a:srgbClr val="22325A"/>
            </a:solidFill>
            <a:prstDash val="solid"/>
          </a:ln>
        </p:spPr>
      </p:sp>
      <p:sp>
        <p:nvSpPr>
          <p:cNvPr id="17" name="Text 14"/>
          <p:cNvSpPr txBox="1"/>
          <p:nvPr/>
        </p:nvSpPr>
        <p:spPr>
          <a:xfrm>
            <a:off x="3429000" y="2999232"/>
            <a:ext cx="2240280" cy="365760"/>
          </a:xfrm>
          <a:prstGeom prst="rect">
            <a:avLst/>
          </a:prstGeom>
          <a:noFill/>
          <a:ln/>
        </p:spPr>
        <p:txBody>
          <a:bodyPr wrap="square" lIns="0" tIns="0" rIns="0" bIns="0" rtlCol="0" anchor="t"/>
          <a:lstStyle/>
          <a:p>
            <a:pPr indent="0" marL="0">
              <a:buNone/>
            </a:pPr>
            <a:r>
              <a:rPr lang="en-US" sz="1700" b="1" dirty="0">
                <a:solidFill>
                  <a:srgbClr val="F4A261"/>
                </a:solidFill>
                <a:latin typeface="Cambria" pitchFamily="34" charset="0"/>
                <a:ea typeface="Cambria" pitchFamily="34" charset="-122"/>
                <a:cs typeface="Cambria" pitchFamily="34" charset="-120"/>
              </a:rPr>
              <a:t>Age × output</a:t>
            </a:r>
            <a:endParaRPr lang="en-US" sz="1700" dirty="0"/>
          </a:p>
        </p:txBody>
      </p:sp>
      <p:sp>
        <p:nvSpPr>
          <p:cNvPr id="18" name="Text 15"/>
          <p:cNvSpPr txBox="1"/>
          <p:nvPr/>
        </p:nvSpPr>
        <p:spPr>
          <a:xfrm>
            <a:off x="3429000" y="3410712"/>
            <a:ext cx="2240280" cy="1005840"/>
          </a:xfrm>
          <a:prstGeom prst="rect">
            <a:avLst/>
          </a:prstGeom>
          <a:noFill/>
          <a:ln/>
        </p:spPr>
        <p:txBody>
          <a:bodyPr wrap="square" lIns="0" tIns="0" rIns="0" bIns="0" rtlCol="0" anchor="t"/>
          <a:lstStyle/>
          <a:p>
            <a:pPr indent="0" marL="0">
              <a:buNone/>
            </a:pPr>
            <a:r>
              <a:rPr lang="en-US" sz="1300" dirty="0">
                <a:solidFill>
                  <a:schemeClr val="bg1"/>
                </a:solidFill>
              </a:rPr>
              <a:t>Young high-output attackers: highest median (€10M).</a:t>
            </a:r>
            <a:endParaRPr lang="en-US" sz="1300" dirty="0"/>
          </a:p>
        </p:txBody>
      </p:sp>
      <p:sp>
        <p:nvSpPr>
          <p:cNvPr id="19" name="finding5"/>
          <p:cNvSpPr/>
          <p:nvPr/>
        </p:nvSpPr>
        <p:spPr>
          <a:xfrm>
            <a:off x="6035040" y="2880360"/>
            <a:ext cx="2606040" cy="1600200"/>
          </a:xfrm>
          <a:prstGeom prst="roundRect">
            <a:avLst>
              <a:gd name="adj" fmla="val 4571"/>
            </a:avLst>
          </a:prstGeom>
          <a:solidFill>
            <a:srgbClr val="22325A"/>
          </a:solidFill>
          <a:ln w="12700">
            <a:solidFill>
              <a:srgbClr val="22325A"/>
            </a:solidFill>
            <a:prstDash val="solid"/>
          </a:ln>
        </p:spPr>
      </p:sp>
      <p:sp>
        <p:nvSpPr>
          <p:cNvPr id="20" name="Text 17"/>
          <p:cNvSpPr txBox="1"/>
          <p:nvPr/>
        </p:nvSpPr>
        <p:spPr>
          <a:xfrm>
            <a:off x="6217920" y="2999232"/>
            <a:ext cx="2240280" cy="365760"/>
          </a:xfrm>
          <a:prstGeom prst="rect">
            <a:avLst/>
          </a:prstGeom>
          <a:noFill/>
          <a:ln/>
        </p:spPr>
        <p:txBody>
          <a:bodyPr wrap="square" lIns="0" tIns="0" rIns="0" bIns="0" rtlCol="0" anchor="t"/>
          <a:lstStyle/>
          <a:p>
            <a:pPr indent="0" marL="0">
              <a:buNone/>
            </a:pPr>
            <a:r>
              <a:rPr lang="en-US" sz="1700" b="1" dirty="0">
                <a:solidFill>
                  <a:srgbClr val="F4A261"/>
                </a:solidFill>
                <a:latin typeface="Cambria" pitchFamily="34" charset="0"/>
                <a:ea typeface="Cambria" pitchFamily="34" charset="-122"/>
                <a:cs typeface="Cambria" pitchFamily="34" charset="-120"/>
              </a:rPr>
              <a:t>Clustering</a:t>
            </a:r>
            <a:endParaRPr lang="en-US" sz="1700" dirty="0"/>
          </a:p>
        </p:txBody>
      </p:sp>
      <p:sp>
        <p:nvSpPr>
          <p:cNvPr id="21" name="Text 18"/>
          <p:cNvSpPr txBox="1"/>
          <p:nvPr/>
        </p:nvSpPr>
        <p:spPr>
          <a:xfrm>
            <a:off x="6217920" y="3410712"/>
            <a:ext cx="2240280" cy="1005840"/>
          </a:xfrm>
          <a:prstGeom prst="rect">
            <a:avLst/>
          </a:prstGeom>
          <a:noFill/>
          <a:ln/>
        </p:spPr>
        <p:txBody>
          <a:bodyPr wrap="square" lIns="0" tIns="0" rIns="0" bIns="0" rtlCol="0" anchor="t"/>
          <a:lstStyle/>
          <a:p>
            <a:pPr indent="0" marL="0">
              <a:buNone/>
            </a:pPr>
            <a:r>
              <a:rPr lang="en-US" sz="1300" dirty="0">
                <a:solidFill>
                  <a:schemeClr val="bg1"/>
                </a:solidFill>
              </a:rPr>
              <a:t>K-means gives readable but weakly separated attacker profiles.</a:t>
            </a:r>
            <a:endParaRPr lang="en-US" sz="1300" dirty="0"/>
          </a:p>
        </p:txBody>
      </p:sp>
      <p:sp>
        <p:nvSpPr>
          <p:cNvPr id="22" name="Text 19"/>
          <p:cNvSpPr txBox="1"/>
          <p:nvPr/>
        </p:nvSpPr>
        <p:spPr>
          <a:xfrm>
            <a:off x="457200" y="4709160"/>
            <a:ext cx="7589520" cy="274320"/>
          </a:xfrm>
          <a:prstGeom prst="rect">
            <a:avLst/>
          </a:prstGeom>
          <a:noFill/>
          <a:ln/>
        </p:spPr>
        <p:txBody>
          <a:bodyPr wrap="square" lIns="0" tIns="0" rIns="0" bIns="0" rtlCol="0" anchor="t"/>
          <a:lstStyle/>
          <a:p>
            <a:pPr indent="0" marL="0">
              <a:buNone/>
            </a:pPr>
            <a:r>
              <a:rPr lang="en-US" sz="1100" dirty="0">
                <a:solidFill>
                  <a:srgbClr val="CADCFC"/>
                </a:solidFill>
              </a:rPr>
              <a:t>All associations: none of these shows that a characteristic causes a higher value.</a:t>
            </a:r>
            <a:endParaRPr lang="en-US" sz="11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CADCF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What this project cannot show</a:t>
            </a:r>
            <a:endParaRPr lang="en-US" sz="2400" dirty="0"/>
          </a:p>
        </p:txBody>
      </p:sp>
      <p:sp>
        <p:nvSpPr>
          <p:cNvPr id="4" name="lim0"/>
          <p:cNvSpPr/>
          <p:nvPr/>
        </p:nvSpPr>
        <p:spPr>
          <a:xfrm>
            <a:off x="457200" y="1097280"/>
            <a:ext cx="1920240" cy="1508760"/>
          </a:xfrm>
          <a:prstGeom prst="roundRect">
            <a:avLst>
              <a:gd name="adj" fmla="val 4848"/>
            </a:avLst>
          </a:prstGeom>
          <a:solidFill>
            <a:schemeClr val="bg2"/>
          </a:solidFill>
          <a:ln w="12700">
            <a:solidFill>
              <a:schemeClr val="bg2"/>
            </a:solidFill>
            <a:prstDash val="solid"/>
          </a:ln>
        </p:spPr>
      </p:sp>
      <p:sp>
        <p:nvSpPr>
          <p:cNvPr id="5" name="Text 2"/>
          <p:cNvSpPr txBox="1"/>
          <p:nvPr/>
        </p:nvSpPr>
        <p:spPr>
          <a:xfrm>
            <a:off x="594360" y="1234440"/>
            <a:ext cx="1645920" cy="36576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Estimates</a:t>
            </a:r>
            <a:endParaRPr lang="en-US" sz="1500" dirty="0"/>
          </a:p>
        </p:txBody>
      </p:sp>
      <p:sp>
        <p:nvSpPr>
          <p:cNvPr id="6" name="Text 3"/>
          <p:cNvSpPr txBox="1"/>
          <p:nvPr/>
        </p:nvSpPr>
        <p:spPr>
          <a:xfrm>
            <a:off x="594360" y="1645920"/>
            <a:ext cx="1645920" cy="868680"/>
          </a:xfrm>
          <a:prstGeom prst="rect">
            <a:avLst/>
          </a:prstGeom>
          <a:noFill/>
          <a:ln/>
        </p:spPr>
        <p:txBody>
          <a:bodyPr wrap="square" lIns="0" tIns="0" rIns="0" bIns="0" rtlCol="0" anchor="t"/>
          <a:lstStyle/>
          <a:p>
            <a:pPr indent="0" marL="0">
              <a:buNone/>
            </a:pPr>
            <a:r>
              <a:rPr lang="en-US" sz="1300" dirty="0">
                <a:solidFill>
                  <a:schemeClr val="tx1"/>
                </a:solidFill>
              </a:rPr>
              <a:t>Transfermarkt values are estimates, not prices</a:t>
            </a:r>
            <a:endParaRPr lang="en-US" sz="1300" dirty="0"/>
          </a:p>
        </p:txBody>
      </p:sp>
      <p:sp>
        <p:nvSpPr>
          <p:cNvPr id="7" name="lim1"/>
          <p:cNvSpPr/>
          <p:nvPr/>
        </p:nvSpPr>
        <p:spPr>
          <a:xfrm>
            <a:off x="2560320" y="1097280"/>
            <a:ext cx="1920240" cy="1508760"/>
          </a:xfrm>
          <a:prstGeom prst="roundRect">
            <a:avLst>
              <a:gd name="adj" fmla="val 4848"/>
            </a:avLst>
          </a:prstGeom>
          <a:solidFill>
            <a:schemeClr val="bg2"/>
          </a:solidFill>
          <a:ln w="12700">
            <a:solidFill>
              <a:schemeClr val="bg2"/>
            </a:solidFill>
            <a:prstDash val="solid"/>
          </a:ln>
        </p:spPr>
      </p:sp>
      <p:sp>
        <p:nvSpPr>
          <p:cNvPr id="8" name="Text 5"/>
          <p:cNvSpPr txBox="1"/>
          <p:nvPr/>
        </p:nvSpPr>
        <p:spPr>
          <a:xfrm>
            <a:off x="2697480" y="1234440"/>
            <a:ext cx="1645920" cy="36576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No causation</a:t>
            </a:r>
            <a:endParaRPr lang="en-US" sz="1500" dirty="0"/>
          </a:p>
        </p:txBody>
      </p:sp>
      <p:sp>
        <p:nvSpPr>
          <p:cNvPr id="9" name="Text 6"/>
          <p:cNvSpPr txBox="1"/>
          <p:nvPr/>
        </p:nvSpPr>
        <p:spPr>
          <a:xfrm>
            <a:off x="2697480" y="1645920"/>
            <a:ext cx="1645920" cy="868680"/>
          </a:xfrm>
          <a:prstGeom prst="rect">
            <a:avLst/>
          </a:prstGeom>
          <a:noFill/>
          <a:ln/>
        </p:spPr>
        <p:txBody>
          <a:bodyPr wrap="square" lIns="0" tIns="0" rIns="0" bIns="0" rtlCol="0" anchor="t"/>
          <a:lstStyle/>
          <a:p>
            <a:pPr indent="0" marL="0">
              <a:buNone/>
            </a:pPr>
            <a:r>
              <a:rPr lang="en-US" sz="1300" dirty="0">
                <a:solidFill>
                  <a:schemeClr val="tx1"/>
                </a:solidFill>
              </a:rPr>
              <a:t>Associations only; factors overlap</a:t>
            </a:r>
            <a:endParaRPr lang="en-US" sz="1300" dirty="0"/>
          </a:p>
        </p:txBody>
      </p:sp>
      <p:sp>
        <p:nvSpPr>
          <p:cNvPr id="10" name="lim2"/>
          <p:cNvSpPr/>
          <p:nvPr/>
        </p:nvSpPr>
        <p:spPr>
          <a:xfrm>
            <a:off x="4663440" y="1097280"/>
            <a:ext cx="1920240" cy="1508760"/>
          </a:xfrm>
          <a:prstGeom prst="roundRect">
            <a:avLst>
              <a:gd name="adj" fmla="val 4848"/>
            </a:avLst>
          </a:prstGeom>
          <a:solidFill>
            <a:schemeClr val="bg2"/>
          </a:solidFill>
          <a:ln w="12700">
            <a:solidFill>
              <a:schemeClr val="bg2"/>
            </a:solidFill>
            <a:prstDash val="solid"/>
          </a:ln>
        </p:spPr>
      </p:sp>
      <p:sp>
        <p:nvSpPr>
          <p:cNvPr id="11" name="Text 8"/>
          <p:cNvSpPr txBox="1"/>
          <p:nvPr/>
        </p:nvSpPr>
        <p:spPr>
          <a:xfrm>
            <a:off x="4800600" y="1234440"/>
            <a:ext cx="1645920" cy="36576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Missing roles</a:t>
            </a:r>
            <a:endParaRPr lang="en-US" sz="1500" dirty="0"/>
          </a:p>
        </p:txBody>
      </p:sp>
      <p:sp>
        <p:nvSpPr>
          <p:cNvPr id="12" name="Text 9"/>
          <p:cNvSpPr txBox="1"/>
          <p:nvPr/>
        </p:nvSpPr>
        <p:spPr>
          <a:xfrm>
            <a:off x="4800600" y="1645920"/>
            <a:ext cx="1645920" cy="868680"/>
          </a:xfrm>
          <a:prstGeom prst="rect">
            <a:avLst/>
          </a:prstGeom>
          <a:noFill/>
          <a:ln/>
        </p:spPr>
        <p:txBody>
          <a:bodyPr wrap="square" lIns="0" tIns="0" rIns="0" bIns="0" rtlCol="0" anchor="t"/>
          <a:lstStyle/>
          <a:p>
            <a:pPr indent="0" marL="0">
              <a:buNone/>
            </a:pPr>
            <a:r>
              <a:rPr lang="en-US" sz="1300" dirty="0">
                <a:solidFill>
                  <a:schemeClr val="tx1"/>
                </a:solidFill>
              </a:rPr>
              <a:t>No defensive or goalkeeper statistics</a:t>
            </a:r>
            <a:endParaRPr lang="en-US" sz="1300" dirty="0"/>
          </a:p>
        </p:txBody>
      </p:sp>
      <p:sp>
        <p:nvSpPr>
          <p:cNvPr id="13" name="lim3"/>
          <p:cNvSpPr/>
          <p:nvPr/>
        </p:nvSpPr>
        <p:spPr>
          <a:xfrm>
            <a:off x="6766560" y="1097280"/>
            <a:ext cx="1920240" cy="1508760"/>
          </a:xfrm>
          <a:prstGeom prst="roundRect">
            <a:avLst>
              <a:gd name="adj" fmla="val 4848"/>
            </a:avLst>
          </a:prstGeom>
          <a:solidFill>
            <a:schemeClr val="bg2"/>
          </a:solidFill>
          <a:ln w="12700">
            <a:solidFill>
              <a:schemeClr val="bg2"/>
            </a:solidFill>
            <a:prstDash val="solid"/>
          </a:ln>
        </p:spPr>
      </p:sp>
      <p:sp>
        <p:nvSpPr>
          <p:cNvPr id="14" name="Text 11"/>
          <p:cNvSpPr txBox="1"/>
          <p:nvPr/>
        </p:nvSpPr>
        <p:spPr>
          <a:xfrm>
            <a:off x="6903720" y="1234440"/>
            <a:ext cx="1645920" cy="36576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No injuries</a:t>
            </a:r>
            <a:endParaRPr lang="en-US" sz="1500" dirty="0"/>
          </a:p>
        </p:txBody>
      </p:sp>
      <p:sp>
        <p:nvSpPr>
          <p:cNvPr id="15" name="Text 12"/>
          <p:cNvSpPr txBox="1"/>
          <p:nvPr/>
        </p:nvSpPr>
        <p:spPr>
          <a:xfrm>
            <a:off x="6903720" y="1645920"/>
            <a:ext cx="1645920" cy="868680"/>
          </a:xfrm>
          <a:prstGeom prst="rect">
            <a:avLst/>
          </a:prstGeom>
          <a:noFill/>
          <a:ln/>
        </p:spPr>
        <p:txBody>
          <a:bodyPr wrap="square" lIns="0" tIns="0" rIns="0" bIns="0" rtlCol="0" anchor="t"/>
          <a:lstStyle/>
          <a:p>
            <a:pPr indent="0" marL="0">
              <a:buNone/>
            </a:pPr>
            <a:r>
              <a:rPr lang="en-US" sz="1300" dirty="0">
                <a:solidFill>
                  <a:schemeClr val="tx1"/>
                </a:solidFill>
              </a:rPr>
              <a:t>Injury history is not in the data</a:t>
            </a:r>
            <a:endParaRPr lang="en-US" sz="1300" dirty="0"/>
          </a:p>
        </p:txBody>
      </p:sp>
      <p:sp>
        <p:nvSpPr>
          <p:cNvPr id="16" name="lim4"/>
          <p:cNvSpPr/>
          <p:nvPr/>
        </p:nvSpPr>
        <p:spPr>
          <a:xfrm>
            <a:off x="457200" y="2788920"/>
            <a:ext cx="1920240" cy="1508760"/>
          </a:xfrm>
          <a:prstGeom prst="roundRect">
            <a:avLst>
              <a:gd name="adj" fmla="val 4848"/>
            </a:avLst>
          </a:prstGeom>
          <a:solidFill>
            <a:schemeClr val="bg2"/>
          </a:solidFill>
          <a:ln w="12700">
            <a:solidFill>
              <a:schemeClr val="bg2"/>
            </a:solidFill>
            <a:prstDash val="solid"/>
          </a:ln>
        </p:spPr>
      </p:sp>
      <p:sp>
        <p:nvSpPr>
          <p:cNvPr id="17" name="Text 14"/>
          <p:cNvSpPr txBox="1"/>
          <p:nvPr/>
        </p:nvSpPr>
        <p:spPr>
          <a:xfrm>
            <a:off x="594360" y="2926080"/>
            <a:ext cx="1645920" cy="36576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League and club</a:t>
            </a:r>
            <a:endParaRPr lang="en-US" sz="1500" dirty="0"/>
          </a:p>
        </p:txBody>
      </p:sp>
      <p:sp>
        <p:nvSpPr>
          <p:cNvPr id="18" name="Text 15"/>
          <p:cNvSpPr txBox="1"/>
          <p:nvPr/>
        </p:nvSpPr>
        <p:spPr>
          <a:xfrm>
            <a:off x="594360" y="3337560"/>
            <a:ext cx="1645920" cy="868680"/>
          </a:xfrm>
          <a:prstGeom prst="rect">
            <a:avLst/>
          </a:prstGeom>
          <a:noFill/>
          <a:ln/>
        </p:spPr>
        <p:txBody>
          <a:bodyPr wrap="square" lIns="0" tIns="0" rIns="0" bIns="0" rtlCol="0" anchor="t"/>
          <a:lstStyle/>
          <a:p>
            <a:pPr indent="0" marL="0">
              <a:buNone/>
            </a:pPr>
            <a:r>
              <a:rPr lang="en-US" sz="1300" dirty="0">
                <a:solidFill>
                  <a:schemeClr val="tx1"/>
                </a:solidFill>
              </a:rPr>
              <a:t>Context overlaps; club strength not measured</a:t>
            </a:r>
            <a:endParaRPr lang="en-US" sz="1300" dirty="0"/>
          </a:p>
        </p:txBody>
      </p:sp>
      <p:sp>
        <p:nvSpPr>
          <p:cNvPr id="19" name="lim5"/>
          <p:cNvSpPr/>
          <p:nvPr/>
        </p:nvSpPr>
        <p:spPr>
          <a:xfrm>
            <a:off x="2560320" y="2788920"/>
            <a:ext cx="1920240" cy="1508760"/>
          </a:xfrm>
          <a:prstGeom prst="roundRect">
            <a:avLst>
              <a:gd name="adj" fmla="val 4848"/>
            </a:avLst>
          </a:prstGeom>
          <a:solidFill>
            <a:schemeClr val="bg2"/>
          </a:solidFill>
          <a:ln w="12700">
            <a:solidFill>
              <a:schemeClr val="bg2"/>
            </a:solidFill>
            <a:prstDash val="solid"/>
          </a:ln>
        </p:spPr>
      </p:sp>
      <p:sp>
        <p:nvSpPr>
          <p:cNvPr id="20" name="Text 17"/>
          <p:cNvSpPr txBox="1"/>
          <p:nvPr/>
        </p:nvSpPr>
        <p:spPr>
          <a:xfrm>
            <a:off x="2697480" y="2926080"/>
            <a:ext cx="1645920" cy="36576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Repeated players</a:t>
            </a:r>
            <a:endParaRPr lang="en-US" sz="1500" dirty="0"/>
          </a:p>
        </p:txBody>
      </p:sp>
      <p:sp>
        <p:nvSpPr>
          <p:cNvPr id="21" name="Text 18"/>
          <p:cNvSpPr txBox="1"/>
          <p:nvPr/>
        </p:nvSpPr>
        <p:spPr>
          <a:xfrm>
            <a:off x="2697480" y="3337560"/>
            <a:ext cx="1645920" cy="868680"/>
          </a:xfrm>
          <a:prstGeom prst="rect">
            <a:avLst/>
          </a:prstGeom>
          <a:noFill/>
          <a:ln/>
        </p:spPr>
        <p:txBody>
          <a:bodyPr wrap="square" lIns="0" tIns="0" rIns="0" bIns="0" rtlCol="0" anchor="t"/>
          <a:lstStyle/>
          <a:p>
            <a:pPr indent="0" marL="0">
              <a:buNone/>
            </a:pPr>
            <a:r>
              <a:rPr lang="en-US" sz="1300" dirty="0">
                <a:solidFill>
                  <a:schemeClr val="tx1"/>
                </a:solidFill>
              </a:rPr>
              <a:t>The same player appears in up to five seasons</a:t>
            </a:r>
            <a:endParaRPr lang="en-US" sz="1300" dirty="0"/>
          </a:p>
        </p:txBody>
      </p:sp>
      <p:sp>
        <p:nvSpPr>
          <p:cNvPr id="22" name="lim6"/>
          <p:cNvSpPr/>
          <p:nvPr/>
        </p:nvSpPr>
        <p:spPr>
          <a:xfrm>
            <a:off x="4663440" y="2788920"/>
            <a:ext cx="1920240" cy="1508760"/>
          </a:xfrm>
          <a:prstGeom prst="roundRect">
            <a:avLst>
              <a:gd name="adj" fmla="val 4848"/>
            </a:avLst>
          </a:prstGeom>
          <a:solidFill>
            <a:schemeClr val="bg2"/>
          </a:solidFill>
          <a:ln w="12700">
            <a:solidFill>
              <a:schemeClr val="bg2"/>
            </a:solidFill>
            <a:prstDash val="solid"/>
          </a:ln>
        </p:spPr>
      </p:sp>
      <p:sp>
        <p:nvSpPr>
          <p:cNvPr id="23" name="Text 20"/>
          <p:cNvSpPr txBox="1"/>
          <p:nvPr/>
        </p:nvSpPr>
        <p:spPr>
          <a:xfrm>
            <a:off x="4800600" y="2926080"/>
            <a:ext cx="1645920" cy="36576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Thresholds</a:t>
            </a:r>
            <a:endParaRPr lang="en-US" sz="1500" dirty="0"/>
          </a:p>
        </p:txBody>
      </p:sp>
      <p:sp>
        <p:nvSpPr>
          <p:cNvPr id="24" name="Text 21"/>
          <p:cNvSpPr txBox="1"/>
          <p:nvPr/>
        </p:nvSpPr>
        <p:spPr>
          <a:xfrm>
            <a:off x="4800600" y="3337560"/>
            <a:ext cx="1645920" cy="868680"/>
          </a:xfrm>
          <a:prstGeom prst="rect">
            <a:avLst/>
          </a:prstGeom>
          <a:noFill/>
          <a:ln/>
        </p:spPr>
        <p:txBody>
          <a:bodyPr wrap="square" lIns="0" tIns="0" rIns="0" bIns="0" rtlCol="0" anchor="t"/>
          <a:lstStyle/>
          <a:p>
            <a:pPr indent="0" marL="0">
              <a:buNone/>
            </a:pPr>
            <a:r>
              <a:rPr lang="en-US" sz="1300" dirty="0">
                <a:solidFill>
                  <a:schemeClr val="tx1"/>
                </a:solidFill>
              </a:rPr>
              <a:t>450 min, July 31, 365 days are practical choices</a:t>
            </a:r>
            <a:endParaRPr lang="en-US" sz="1300" dirty="0"/>
          </a:p>
        </p:txBody>
      </p:sp>
      <p:sp>
        <p:nvSpPr>
          <p:cNvPr id="25" name="lim7"/>
          <p:cNvSpPr/>
          <p:nvPr/>
        </p:nvSpPr>
        <p:spPr>
          <a:xfrm>
            <a:off x="6766560" y="2788920"/>
            <a:ext cx="1920240" cy="1508760"/>
          </a:xfrm>
          <a:prstGeom prst="roundRect">
            <a:avLst>
              <a:gd name="adj" fmla="val 4848"/>
            </a:avLst>
          </a:prstGeom>
          <a:solidFill>
            <a:schemeClr val="bg2"/>
          </a:solidFill>
          <a:ln w="12700">
            <a:solidFill>
              <a:schemeClr val="bg2"/>
            </a:solidFill>
            <a:prstDash val="solid"/>
          </a:ln>
        </p:spPr>
      </p:sp>
      <p:sp>
        <p:nvSpPr>
          <p:cNvPr id="26" name="Text 23"/>
          <p:cNvSpPr txBox="1"/>
          <p:nvPr/>
        </p:nvSpPr>
        <p:spPr>
          <a:xfrm>
            <a:off x="6903720" y="2926080"/>
            <a:ext cx="1645920" cy="36576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Russia / Ukraine</a:t>
            </a:r>
            <a:endParaRPr lang="en-US" sz="1500" dirty="0"/>
          </a:p>
        </p:txBody>
      </p:sp>
      <p:sp>
        <p:nvSpPr>
          <p:cNvPr id="27" name="Text 24"/>
          <p:cNvSpPr txBox="1"/>
          <p:nvPr/>
        </p:nvSpPr>
        <p:spPr>
          <a:xfrm>
            <a:off x="6903720" y="3337560"/>
            <a:ext cx="1645920" cy="868680"/>
          </a:xfrm>
          <a:prstGeom prst="rect">
            <a:avLst/>
          </a:prstGeom>
          <a:noFill/>
          <a:ln/>
        </p:spPr>
        <p:txBody>
          <a:bodyPr wrap="square" lIns="0" tIns="0" rIns="0" bIns="0" rtlCol="0" anchor="t"/>
          <a:lstStyle/>
          <a:p>
            <a:pPr indent="0" marL="0">
              <a:buNone/>
            </a:pPr>
            <a:r>
              <a:rPr lang="en-US" sz="1300" dirty="0">
                <a:solidFill>
                  <a:schemeClr val="tx1"/>
                </a:solidFill>
              </a:rPr>
              <a:t>War conditions after 2022 affect those leagues</a:t>
            </a:r>
            <a:endParaRPr lang="en-US" sz="13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A8CA5"/>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Market Value Study">
  <a:themeElements>
    <a:clrScheme name="Market Value Study">
      <a:dk1>
        <a:srgbClr val="1A1F2B"/>
      </a:dk1>
      <a:lt1>
        <a:srgbClr val="FFFFFF"/>
      </a:lt1>
      <a:dk2>
        <a:srgbClr val="14213D"/>
      </a:dk2>
      <a:lt2>
        <a:srgbClr val="F2F4F7"/>
      </a:lt2>
      <a:accent1>
        <a:srgbClr val="D55E00"/>
      </a:accent1>
      <a:accent2>
        <a:srgbClr val="7A8CA5"/>
      </a:accent2>
      <a:accent3>
        <a:srgbClr val="0072B2"/>
      </a:accent3>
      <a:accent4>
        <a:srgbClr val="009E73"/>
      </a:accent4>
      <a:accent5>
        <a:srgbClr val="E69F00"/>
      </a:accent5>
      <a:accent6>
        <a:srgbClr val="A23B2A"/>
      </a:accent6>
      <a:hlink>
        <a:srgbClr val="0072B2"/>
      </a:hlink>
      <a:folHlink>
        <a:srgbClr val="6B4C9A"/>
      </a:folHlink>
    </a:clrScheme>
    <a:fontScheme name="Market Value Stud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Factors Are Most Associated with Football Player Market Value?</dc:title>
  <dc:subject>PptxGenJS Presentation</dc:subject>
  <dc:creator>Niloy Saha</dc:creator>
  <cp:lastModifiedBy>Niloy Saha</cp:lastModifiedBy>
  <cp:revision>1</cp:revision>
  <dcterms:created xsi:type="dcterms:W3CDTF">2026-10-04T22:56:41Z</dcterms:created>
  <dcterms:modified xsi:type="dcterms:W3CDTF">2026-10-04T22:56:41Z</dcterms:modified>
</cp:coreProperties>
</file>